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4A9BD9-F1EE-41D0-BEB5-E9308533AFB7}" type="datetimeFigureOut">
              <a:rPr lang="en-US" smtClean="0"/>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81F8D9-F4BA-4836-B770-BDE60A047C2F}" type="slidenum">
              <a:rPr lang="en-US" smtClean="0"/>
              <a:t>‹#›</a:t>
            </a:fld>
            <a:endParaRPr lang="en-US"/>
          </a:p>
        </p:txBody>
      </p:sp>
    </p:spTree>
    <p:extLst>
      <p:ext uri="{BB962C8B-B14F-4D97-AF65-F5344CB8AC3E}">
        <p14:creationId xmlns:p14="http://schemas.microsoft.com/office/powerpoint/2010/main" val="2015916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447880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130572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54684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531678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61483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524909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66573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945994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72191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051123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52298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4E5B70C-C06A-48C3-B666-A608B44AF6DA}"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6E932B-E282-4F04-8A67-1E4D90A52269}" type="slidenum">
              <a:rPr lang="en-US" smtClean="0"/>
              <a:t>‹#›</a:t>
            </a:fld>
            <a:endParaRPr lang="en-US"/>
          </a:p>
        </p:txBody>
      </p:sp>
    </p:spTree>
    <p:extLst>
      <p:ext uri="{BB962C8B-B14F-4D97-AF65-F5344CB8AC3E}">
        <p14:creationId xmlns:p14="http://schemas.microsoft.com/office/powerpoint/2010/main" val="3197494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E5B70C-C06A-48C3-B666-A608B44AF6DA}"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6E932B-E282-4F04-8A67-1E4D90A52269}" type="slidenum">
              <a:rPr lang="en-US" smtClean="0"/>
              <a:t>‹#›</a:t>
            </a:fld>
            <a:endParaRPr lang="en-US"/>
          </a:p>
        </p:txBody>
      </p:sp>
    </p:spTree>
    <p:extLst>
      <p:ext uri="{BB962C8B-B14F-4D97-AF65-F5344CB8AC3E}">
        <p14:creationId xmlns:p14="http://schemas.microsoft.com/office/powerpoint/2010/main" val="635187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4E5B70C-C06A-48C3-B666-A608B44AF6DA}"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6E932B-E282-4F04-8A67-1E4D90A52269}" type="slidenum">
              <a:rPr lang="en-US" smtClean="0"/>
              <a:t>‹#›</a:t>
            </a:fld>
            <a:endParaRPr lang="en-US"/>
          </a:p>
        </p:txBody>
      </p:sp>
    </p:spTree>
    <p:extLst>
      <p:ext uri="{BB962C8B-B14F-4D97-AF65-F5344CB8AC3E}">
        <p14:creationId xmlns:p14="http://schemas.microsoft.com/office/powerpoint/2010/main" val="854939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4E5B70C-C06A-48C3-B666-A608B44AF6DA}"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6E932B-E282-4F04-8A67-1E4D90A52269}" type="slidenum">
              <a:rPr lang="en-US" smtClean="0"/>
              <a:t>‹#›</a:t>
            </a:fld>
            <a:endParaRPr lang="en-US"/>
          </a:p>
        </p:txBody>
      </p:sp>
    </p:spTree>
    <p:extLst>
      <p:ext uri="{BB962C8B-B14F-4D97-AF65-F5344CB8AC3E}">
        <p14:creationId xmlns:p14="http://schemas.microsoft.com/office/powerpoint/2010/main" val="3838269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4E5B70C-C06A-48C3-B666-A608B44AF6DA}" type="datetimeFigureOut">
              <a:rPr lang="en-US" smtClean="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6E932B-E282-4F04-8A67-1E4D90A52269}" type="slidenum">
              <a:rPr lang="en-US" smtClean="0"/>
              <a:t>‹#›</a:t>
            </a:fld>
            <a:endParaRPr lang="en-US"/>
          </a:p>
        </p:txBody>
      </p:sp>
    </p:spTree>
    <p:extLst>
      <p:ext uri="{BB962C8B-B14F-4D97-AF65-F5344CB8AC3E}">
        <p14:creationId xmlns:p14="http://schemas.microsoft.com/office/powerpoint/2010/main" val="4167577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4E5B70C-C06A-48C3-B666-A608B44AF6DA}" type="datetimeFigureOut">
              <a:rPr lang="en-US" smtClean="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6E932B-E282-4F04-8A67-1E4D90A52269}" type="slidenum">
              <a:rPr lang="en-US" smtClean="0"/>
              <a:t>‹#›</a:t>
            </a:fld>
            <a:endParaRPr lang="en-US"/>
          </a:p>
        </p:txBody>
      </p:sp>
    </p:spTree>
    <p:extLst>
      <p:ext uri="{BB962C8B-B14F-4D97-AF65-F5344CB8AC3E}">
        <p14:creationId xmlns:p14="http://schemas.microsoft.com/office/powerpoint/2010/main" val="2471202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E5B70C-C06A-48C3-B666-A608B44AF6DA}" type="datetimeFigureOut">
              <a:rPr lang="en-US" smtClean="0"/>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6E932B-E282-4F04-8A67-1E4D90A52269}" type="slidenum">
              <a:rPr lang="en-US" smtClean="0"/>
              <a:t>‹#›</a:t>
            </a:fld>
            <a:endParaRPr lang="en-US"/>
          </a:p>
        </p:txBody>
      </p:sp>
    </p:spTree>
    <p:extLst>
      <p:ext uri="{BB962C8B-B14F-4D97-AF65-F5344CB8AC3E}">
        <p14:creationId xmlns:p14="http://schemas.microsoft.com/office/powerpoint/2010/main" val="2580167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4E5B70C-C06A-48C3-B666-A608B44AF6DA}"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6E932B-E282-4F04-8A67-1E4D90A52269}" type="slidenum">
              <a:rPr lang="en-US" smtClean="0"/>
              <a:t>‹#›</a:t>
            </a:fld>
            <a:endParaRPr lang="en-US"/>
          </a:p>
        </p:txBody>
      </p:sp>
    </p:spTree>
    <p:extLst>
      <p:ext uri="{BB962C8B-B14F-4D97-AF65-F5344CB8AC3E}">
        <p14:creationId xmlns:p14="http://schemas.microsoft.com/office/powerpoint/2010/main" val="2983354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4E5B70C-C06A-48C3-B666-A608B44AF6DA}"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6E932B-E282-4F04-8A67-1E4D90A52269}" type="slidenum">
              <a:rPr lang="en-US" smtClean="0"/>
              <a:t>‹#›</a:t>
            </a:fld>
            <a:endParaRPr lang="en-US"/>
          </a:p>
        </p:txBody>
      </p:sp>
    </p:spTree>
    <p:extLst>
      <p:ext uri="{BB962C8B-B14F-4D97-AF65-F5344CB8AC3E}">
        <p14:creationId xmlns:p14="http://schemas.microsoft.com/office/powerpoint/2010/main" val="2881996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E5B70C-C06A-48C3-B666-A608B44AF6DA}"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6E932B-E282-4F04-8A67-1E4D90A52269}" type="slidenum">
              <a:rPr lang="en-US" smtClean="0"/>
              <a:t>‹#›</a:t>
            </a:fld>
            <a:endParaRPr lang="en-US"/>
          </a:p>
        </p:txBody>
      </p:sp>
    </p:spTree>
    <p:extLst>
      <p:ext uri="{BB962C8B-B14F-4D97-AF65-F5344CB8AC3E}">
        <p14:creationId xmlns:p14="http://schemas.microsoft.com/office/powerpoint/2010/main" val="484162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E5B70C-C06A-48C3-B666-A608B44AF6DA}"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6E932B-E282-4F04-8A67-1E4D90A52269}" type="slidenum">
              <a:rPr lang="en-US" smtClean="0"/>
              <a:t>‹#›</a:t>
            </a:fld>
            <a:endParaRPr lang="en-US"/>
          </a:p>
        </p:txBody>
      </p:sp>
    </p:spTree>
    <p:extLst>
      <p:ext uri="{BB962C8B-B14F-4D97-AF65-F5344CB8AC3E}">
        <p14:creationId xmlns:p14="http://schemas.microsoft.com/office/powerpoint/2010/main" val="1479631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10303"/>
          </a:solidFill>
          <a:ln/>
        </p:spPr>
      </p:sp>
      <p:sp>
        <p:nvSpPr>
          <p:cNvPr id="3" name="Shape 1"/>
          <p:cNvSpPr/>
          <p:nvPr/>
        </p:nvSpPr>
        <p:spPr>
          <a:xfrm>
            <a:off x="0" y="0"/>
            <a:ext cx="12192000" cy="68580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949646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E5B70C-C06A-48C3-B666-A608B44AF6DA}" type="datetimeFigureOut">
              <a:rPr lang="en-US" smtClean="0"/>
              <a:t>11/27/2025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6E932B-E282-4F04-8A67-1E4D90A52269}" type="slidenum">
              <a:rPr lang="en-US" smtClean="0"/>
              <a:t>‹#›</a:t>
            </a:fld>
            <a:endParaRPr lang="en-US"/>
          </a:p>
        </p:txBody>
      </p:sp>
    </p:spTree>
    <p:extLst>
      <p:ext uri="{BB962C8B-B14F-4D97-AF65-F5344CB8AC3E}">
        <p14:creationId xmlns:p14="http://schemas.microsoft.com/office/powerpoint/2010/main" val="2428291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2793406"/>
            <a:ext cx="9923760" cy="590649"/>
          </a:xfrm>
          <a:prstGeom prst="rect">
            <a:avLst/>
          </a:prstGeom>
          <a:noFill/>
          <a:ln/>
        </p:spPr>
        <p:txBody>
          <a:bodyPr wrap="none" lIns="0" tIns="0" rIns="0" bIns="0" rtlCol="0" anchor="t"/>
          <a:lstStyle/>
          <a:p>
            <a:pPr>
              <a:lnSpc>
                <a:spcPts val="4625"/>
              </a:lnSpc>
            </a:pPr>
            <a:r>
              <a:rPr lang="en-US" sz="3708" dirty="0">
                <a:solidFill>
                  <a:srgbClr val="FFFFFF"/>
                </a:solidFill>
                <a:latin typeface="Roboto" panose="020B0604020202020204" charset="0"/>
                <a:ea typeface="Roboto" panose="020B0604020202020204" charset="0"/>
                <a:cs typeface="Roboto Mono Medium" pitchFamily="34" charset="-120"/>
              </a:rPr>
              <a:t>Machine Learning Trading Strategies</a:t>
            </a:r>
            <a:endParaRPr lang="en-US" sz="3708" dirty="0">
              <a:latin typeface="Roboto" panose="020B0604020202020204" charset="0"/>
              <a:ea typeface="Roboto" panose="020B0604020202020204" charset="0"/>
            </a:endParaRPr>
          </a:p>
        </p:txBody>
      </p:sp>
      <p:sp>
        <p:nvSpPr>
          <p:cNvPr id="3" name="Text 1"/>
          <p:cNvSpPr/>
          <p:nvPr/>
        </p:nvSpPr>
        <p:spPr>
          <a:xfrm>
            <a:off x="661492" y="3762078"/>
            <a:ext cx="10869018" cy="302419"/>
          </a:xfrm>
          <a:prstGeom prst="rect">
            <a:avLst/>
          </a:prstGeom>
          <a:noFill/>
          <a:ln/>
        </p:spPr>
        <p:txBody>
          <a:bodyPr wrap="none" lIns="0" tIns="0" rIns="0" bIns="0" rtlCol="0" anchor="t"/>
          <a:lstStyle/>
          <a:p>
            <a:pPr>
              <a:lnSpc>
                <a:spcPts val="2375"/>
              </a:lnSpc>
            </a:pPr>
            <a:r>
              <a:rPr lang="en-US" sz="1458" dirty="0">
                <a:solidFill>
                  <a:srgbClr val="DCFF50"/>
                </a:solidFill>
                <a:latin typeface="Roboto" pitchFamily="34" charset="0"/>
                <a:ea typeface="Roboto" pitchFamily="34" charset="-122"/>
                <a:cs typeface="Roboto" pitchFamily="34" charset="-120"/>
              </a:rPr>
              <a:t>PCA–KMeans</a:t>
            </a:r>
            <a:r>
              <a:rPr lang="en-US" sz="1458" dirty="0">
                <a:solidFill>
                  <a:srgbClr val="E5E0DF"/>
                </a:solidFill>
                <a:latin typeface="Roboto" pitchFamily="34" charset="0"/>
                <a:ea typeface="Roboto" pitchFamily="34" charset="-122"/>
                <a:cs typeface="Roboto" pitchFamily="34" charset="-120"/>
              </a:rPr>
              <a:t> &amp; Random Forest Bagging: Enhancing Algorithmic Trading with </a:t>
            </a:r>
            <a:r>
              <a:rPr lang="en-US" sz="1458" dirty="0" smtClean="0">
                <a:solidFill>
                  <a:srgbClr val="E5E0DF"/>
                </a:solidFill>
                <a:latin typeface="Roboto" pitchFamily="34" charset="0"/>
                <a:ea typeface="Roboto" pitchFamily="34" charset="-122"/>
                <a:cs typeface="Roboto" pitchFamily="34" charset="-120"/>
              </a:rPr>
              <a:t>ML</a:t>
            </a:r>
            <a:endParaRPr lang="en-US" sz="1458" dirty="0"/>
          </a:p>
        </p:txBody>
      </p:sp>
      <p:pic>
        <p:nvPicPr>
          <p:cNvPr id="4" name="Picture 3"/>
          <p:cNvPicPr>
            <a:picLocks noChangeAspect="1"/>
          </p:cNvPicPr>
          <p:nvPr/>
        </p:nvPicPr>
        <p:blipFill>
          <a:blip r:embed="rId3"/>
          <a:stretch>
            <a:fillRect/>
          </a:stretch>
        </p:blipFill>
        <p:spPr>
          <a:xfrm>
            <a:off x="10229576" y="6439270"/>
            <a:ext cx="1962424" cy="362001"/>
          </a:xfrm>
          <a:prstGeom prst="rect">
            <a:avLst/>
          </a:prstGeom>
        </p:spPr>
      </p:pic>
    </p:spTree>
    <p:extLst>
      <p:ext uri="{BB962C8B-B14F-4D97-AF65-F5344CB8AC3E}">
        <p14:creationId xmlns:p14="http://schemas.microsoft.com/office/powerpoint/2010/main" val="15769310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0896" y="519311"/>
            <a:ext cx="4485084" cy="560586"/>
          </a:xfrm>
          <a:prstGeom prst="rect">
            <a:avLst/>
          </a:prstGeom>
          <a:noFill/>
          <a:ln/>
        </p:spPr>
        <p:txBody>
          <a:bodyPr wrap="none" lIns="0" tIns="0" rIns="0" bIns="0" rtlCol="0" anchor="t"/>
          <a:lstStyle/>
          <a:p>
            <a:pPr>
              <a:lnSpc>
                <a:spcPts val="4375"/>
              </a:lnSpc>
            </a:pPr>
            <a:r>
              <a:rPr lang="en-US" sz="3500" dirty="0">
                <a:solidFill>
                  <a:srgbClr val="FFFFFF"/>
                </a:solidFill>
                <a:latin typeface="Roboto Mono Medium" pitchFamily="34" charset="0"/>
                <a:ea typeface="Roboto Mono Medium" pitchFamily="34" charset="-122"/>
                <a:cs typeface="Roboto Mono Medium" pitchFamily="34" charset="-120"/>
              </a:rPr>
              <a:t>Agenda</a:t>
            </a:r>
            <a:endParaRPr lang="en-US" sz="3500" dirty="0"/>
          </a:p>
        </p:txBody>
      </p:sp>
      <p:sp>
        <p:nvSpPr>
          <p:cNvPr id="3" name="Text 1"/>
          <p:cNvSpPr/>
          <p:nvPr/>
        </p:nvSpPr>
        <p:spPr>
          <a:xfrm>
            <a:off x="660896" y="1438672"/>
            <a:ext cx="179388" cy="224234"/>
          </a:xfrm>
          <a:prstGeom prst="rect">
            <a:avLst/>
          </a:prstGeom>
          <a:noFill/>
          <a:ln/>
        </p:spPr>
        <p:txBody>
          <a:bodyPr wrap="none" lIns="0" tIns="0" rIns="0" bIns="0" rtlCol="0" anchor="t"/>
          <a:lstStyle/>
          <a:p>
            <a:pPr>
              <a:lnSpc>
                <a:spcPts val="2250"/>
              </a:lnSpc>
            </a:pPr>
            <a:r>
              <a:rPr lang="en-US" sz="1375" dirty="0">
                <a:solidFill>
                  <a:srgbClr val="E5E0DF"/>
                </a:solidFill>
                <a:latin typeface="Roboto Mono Light" pitchFamily="34" charset="0"/>
                <a:ea typeface="Roboto Mono Light" pitchFamily="34" charset="-122"/>
                <a:cs typeface="Roboto Mono Light" pitchFamily="34" charset="-120"/>
              </a:rPr>
              <a:t>01</a:t>
            </a:r>
            <a:endParaRPr lang="en-US" sz="1375" dirty="0"/>
          </a:p>
        </p:txBody>
      </p:sp>
      <p:sp>
        <p:nvSpPr>
          <p:cNvPr id="4" name="Shape 2"/>
          <p:cNvSpPr/>
          <p:nvPr/>
        </p:nvSpPr>
        <p:spPr>
          <a:xfrm>
            <a:off x="660896" y="1718171"/>
            <a:ext cx="3503811" cy="25400"/>
          </a:xfrm>
          <a:prstGeom prst="rect">
            <a:avLst/>
          </a:prstGeom>
          <a:solidFill>
            <a:srgbClr val="DCFF50"/>
          </a:solidFill>
          <a:ln/>
        </p:spPr>
      </p:sp>
      <p:sp>
        <p:nvSpPr>
          <p:cNvPr id="5" name="Text 3"/>
          <p:cNvSpPr/>
          <p:nvPr/>
        </p:nvSpPr>
        <p:spPr>
          <a:xfrm>
            <a:off x="660896" y="1858665"/>
            <a:ext cx="2555578" cy="280293"/>
          </a:xfrm>
          <a:prstGeom prst="rect">
            <a:avLst/>
          </a:prstGeom>
          <a:noFill/>
          <a:ln/>
        </p:spPr>
        <p:txBody>
          <a:bodyPr wrap="none" lIns="0" tIns="0" rIns="0" bIns="0" rtlCol="0" anchor="t"/>
          <a:lstStyle/>
          <a:p>
            <a:pPr>
              <a:lnSpc>
                <a:spcPts val="2167"/>
              </a:lnSpc>
            </a:pPr>
            <a:r>
              <a:rPr lang="en-US" sz="1750" dirty="0">
                <a:solidFill>
                  <a:srgbClr val="E5E0DF"/>
                </a:solidFill>
                <a:latin typeface="Roboto" panose="020B0604020202020204" charset="0"/>
                <a:ea typeface="Roboto" panose="020B0604020202020204" charset="0"/>
                <a:cs typeface="Roboto Mono Medium" pitchFamily="34" charset="-120"/>
              </a:rPr>
              <a:t>Strategy</a:t>
            </a:r>
            <a:r>
              <a:rPr lang="en-US" sz="1750" dirty="0">
                <a:solidFill>
                  <a:srgbClr val="E5E0DF"/>
                </a:solidFill>
                <a:latin typeface="Roboto Mono Medium" pitchFamily="34" charset="0"/>
                <a:ea typeface="Roboto Mono Medium" pitchFamily="34" charset="-122"/>
                <a:cs typeface="Roboto Mono Medium" pitchFamily="34" charset="-120"/>
              </a:rPr>
              <a:t> </a:t>
            </a:r>
            <a:r>
              <a:rPr lang="en-US" sz="1750" dirty="0">
                <a:solidFill>
                  <a:srgbClr val="E5E0DF"/>
                </a:solidFill>
                <a:latin typeface="Roboto" panose="020B0604020202020204" charset="0"/>
                <a:ea typeface="Roboto" panose="020B0604020202020204" charset="0"/>
                <a:cs typeface="Roboto Mono Medium" pitchFamily="34" charset="-120"/>
              </a:rPr>
              <a:t>Objectives</a:t>
            </a:r>
            <a:endParaRPr lang="en-US" sz="1750" dirty="0">
              <a:latin typeface="Roboto" panose="020B0604020202020204" charset="0"/>
              <a:ea typeface="Roboto" panose="020B0604020202020204" charset="0"/>
            </a:endParaRPr>
          </a:p>
        </p:txBody>
      </p:sp>
      <p:sp>
        <p:nvSpPr>
          <p:cNvPr id="6" name="Text 4"/>
          <p:cNvSpPr/>
          <p:nvPr/>
        </p:nvSpPr>
        <p:spPr>
          <a:xfrm>
            <a:off x="660896" y="2275086"/>
            <a:ext cx="3503811" cy="573882"/>
          </a:xfrm>
          <a:prstGeom prst="rect">
            <a:avLst/>
          </a:prstGeom>
          <a:noFill/>
          <a:ln/>
        </p:spPr>
        <p:txBody>
          <a:bodyPr wrap="square" lIns="0" tIns="0" rIns="0" bIns="0" rtlCol="0" anchor="t"/>
          <a:lstStyle/>
          <a:p>
            <a:pPr>
              <a:lnSpc>
                <a:spcPts val="2250"/>
              </a:lnSpc>
            </a:pPr>
            <a:r>
              <a:rPr lang="en-US" sz="1375" dirty="0">
                <a:solidFill>
                  <a:srgbClr val="E5E0DF"/>
                </a:solidFill>
                <a:latin typeface="Roboto" pitchFamily="34" charset="0"/>
                <a:ea typeface="Roboto" pitchFamily="34" charset="-122"/>
                <a:cs typeface="Roboto" pitchFamily="34" charset="-120"/>
              </a:rPr>
              <a:t>Understanding the core goals and aims of our ML-driven trading </a:t>
            </a:r>
            <a:r>
              <a:rPr lang="en-US" sz="1375" dirty="0">
                <a:solidFill>
                  <a:srgbClr val="E5E0DF"/>
                </a:solidFill>
                <a:latin typeface="Roboto" pitchFamily="34" charset="0"/>
                <a:ea typeface="Roboto" pitchFamily="34" charset="-122"/>
                <a:cs typeface="Roboto" pitchFamily="34" charset="-120"/>
              </a:rPr>
              <a:t>approaches.</a:t>
            </a:r>
            <a:endParaRPr lang="en-US" sz="1375" dirty="0"/>
          </a:p>
        </p:txBody>
      </p:sp>
      <p:sp>
        <p:nvSpPr>
          <p:cNvPr id="7" name="Text 5"/>
          <p:cNvSpPr/>
          <p:nvPr/>
        </p:nvSpPr>
        <p:spPr>
          <a:xfrm>
            <a:off x="4344094" y="1438672"/>
            <a:ext cx="179388" cy="224234"/>
          </a:xfrm>
          <a:prstGeom prst="rect">
            <a:avLst/>
          </a:prstGeom>
          <a:noFill/>
          <a:ln/>
        </p:spPr>
        <p:txBody>
          <a:bodyPr wrap="none" lIns="0" tIns="0" rIns="0" bIns="0" rtlCol="0" anchor="t"/>
          <a:lstStyle/>
          <a:p>
            <a:pPr>
              <a:lnSpc>
                <a:spcPts val="2250"/>
              </a:lnSpc>
            </a:pPr>
            <a:r>
              <a:rPr lang="en-US" sz="1375" dirty="0">
                <a:solidFill>
                  <a:srgbClr val="E5E0DF"/>
                </a:solidFill>
                <a:latin typeface="Roboto Mono Light" pitchFamily="34" charset="0"/>
                <a:ea typeface="Roboto Mono Light" pitchFamily="34" charset="-122"/>
                <a:cs typeface="Roboto Mono Light" pitchFamily="34" charset="-120"/>
              </a:rPr>
              <a:t>02</a:t>
            </a:r>
            <a:endParaRPr lang="en-US" sz="1375" dirty="0"/>
          </a:p>
        </p:txBody>
      </p:sp>
      <p:sp>
        <p:nvSpPr>
          <p:cNvPr id="8" name="Shape 6"/>
          <p:cNvSpPr/>
          <p:nvPr/>
        </p:nvSpPr>
        <p:spPr>
          <a:xfrm>
            <a:off x="4344095" y="1718171"/>
            <a:ext cx="3503811" cy="25400"/>
          </a:xfrm>
          <a:prstGeom prst="rect">
            <a:avLst/>
          </a:prstGeom>
          <a:solidFill>
            <a:srgbClr val="DCFF50"/>
          </a:solidFill>
          <a:ln/>
        </p:spPr>
      </p:sp>
      <p:sp>
        <p:nvSpPr>
          <p:cNvPr id="9" name="Text 7"/>
          <p:cNvSpPr/>
          <p:nvPr/>
        </p:nvSpPr>
        <p:spPr>
          <a:xfrm>
            <a:off x="4344094" y="1858665"/>
            <a:ext cx="3497163" cy="280293"/>
          </a:xfrm>
          <a:prstGeom prst="rect">
            <a:avLst/>
          </a:prstGeom>
          <a:noFill/>
          <a:ln/>
        </p:spPr>
        <p:txBody>
          <a:bodyPr wrap="none" lIns="0" tIns="0" rIns="0" bIns="0" rtlCol="0" anchor="t"/>
          <a:lstStyle/>
          <a:p>
            <a:pPr>
              <a:lnSpc>
                <a:spcPts val="2167"/>
              </a:lnSpc>
            </a:pPr>
            <a:r>
              <a:rPr lang="en-US" sz="1750" dirty="0">
                <a:solidFill>
                  <a:srgbClr val="E5E0DF"/>
                </a:solidFill>
                <a:latin typeface="Roboto" panose="020B0604020202020204" charset="0"/>
                <a:ea typeface="Roboto" panose="020B0604020202020204" charset="0"/>
                <a:cs typeface="Roboto Mono Medium" pitchFamily="34" charset="-120"/>
              </a:rPr>
              <a:t>Data &amp; Feature Engineering</a:t>
            </a:r>
            <a:endParaRPr lang="en-US" sz="1750" dirty="0">
              <a:latin typeface="Roboto" panose="020B0604020202020204" charset="0"/>
              <a:ea typeface="Roboto" panose="020B0604020202020204" charset="0"/>
            </a:endParaRPr>
          </a:p>
        </p:txBody>
      </p:sp>
      <p:sp>
        <p:nvSpPr>
          <p:cNvPr id="10" name="Text 8"/>
          <p:cNvSpPr/>
          <p:nvPr/>
        </p:nvSpPr>
        <p:spPr>
          <a:xfrm>
            <a:off x="4344095" y="2246511"/>
            <a:ext cx="3503811" cy="573882"/>
          </a:xfrm>
          <a:prstGeom prst="rect">
            <a:avLst/>
          </a:prstGeom>
          <a:noFill/>
          <a:ln/>
        </p:spPr>
        <p:txBody>
          <a:bodyPr wrap="square" lIns="0" tIns="0" rIns="0" bIns="0" rtlCol="0" anchor="t"/>
          <a:lstStyle/>
          <a:p>
            <a:pPr>
              <a:lnSpc>
                <a:spcPts val="2250"/>
              </a:lnSpc>
            </a:pPr>
            <a:r>
              <a:rPr lang="en-US" sz="1375" dirty="0">
                <a:solidFill>
                  <a:srgbClr val="E5E0DF"/>
                </a:solidFill>
                <a:latin typeface="Roboto" pitchFamily="34" charset="0"/>
                <a:ea typeface="Roboto" pitchFamily="34" charset="-122"/>
                <a:cs typeface="Roboto" pitchFamily="34" charset="-120"/>
              </a:rPr>
              <a:t>Deep dive into the raw data and engineered features that drive our models.</a:t>
            </a:r>
            <a:endParaRPr lang="en-US" sz="1375" dirty="0"/>
          </a:p>
        </p:txBody>
      </p:sp>
      <p:sp>
        <p:nvSpPr>
          <p:cNvPr id="11" name="Text 9"/>
          <p:cNvSpPr/>
          <p:nvPr/>
        </p:nvSpPr>
        <p:spPr>
          <a:xfrm>
            <a:off x="8027294" y="1438672"/>
            <a:ext cx="179388" cy="224234"/>
          </a:xfrm>
          <a:prstGeom prst="rect">
            <a:avLst/>
          </a:prstGeom>
          <a:noFill/>
          <a:ln/>
        </p:spPr>
        <p:txBody>
          <a:bodyPr wrap="none" lIns="0" tIns="0" rIns="0" bIns="0" rtlCol="0" anchor="t"/>
          <a:lstStyle/>
          <a:p>
            <a:pPr>
              <a:lnSpc>
                <a:spcPts val="2250"/>
              </a:lnSpc>
            </a:pPr>
            <a:r>
              <a:rPr lang="en-US" sz="1375" dirty="0">
                <a:solidFill>
                  <a:srgbClr val="E5E0DF"/>
                </a:solidFill>
                <a:latin typeface="Roboto Mono Light" pitchFamily="34" charset="0"/>
                <a:ea typeface="Roboto Mono Light" pitchFamily="34" charset="-122"/>
                <a:cs typeface="Roboto Mono Light" pitchFamily="34" charset="-120"/>
              </a:rPr>
              <a:t>03</a:t>
            </a:r>
            <a:endParaRPr lang="en-US" sz="1375" dirty="0"/>
          </a:p>
        </p:txBody>
      </p:sp>
      <p:sp>
        <p:nvSpPr>
          <p:cNvPr id="12" name="Shape 10"/>
          <p:cNvSpPr/>
          <p:nvPr/>
        </p:nvSpPr>
        <p:spPr>
          <a:xfrm>
            <a:off x="8027294" y="1718171"/>
            <a:ext cx="3503811" cy="25400"/>
          </a:xfrm>
          <a:prstGeom prst="rect">
            <a:avLst/>
          </a:prstGeom>
          <a:solidFill>
            <a:srgbClr val="DCFF50"/>
          </a:solidFill>
          <a:ln/>
        </p:spPr>
      </p:sp>
      <p:sp>
        <p:nvSpPr>
          <p:cNvPr id="13" name="Text 11"/>
          <p:cNvSpPr/>
          <p:nvPr/>
        </p:nvSpPr>
        <p:spPr>
          <a:xfrm>
            <a:off x="8027294" y="1858665"/>
            <a:ext cx="3093641" cy="280293"/>
          </a:xfrm>
          <a:prstGeom prst="rect">
            <a:avLst/>
          </a:prstGeom>
          <a:noFill/>
          <a:ln/>
        </p:spPr>
        <p:txBody>
          <a:bodyPr wrap="none" lIns="0" tIns="0" rIns="0" bIns="0" rtlCol="0" anchor="t"/>
          <a:lstStyle/>
          <a:p>
            <a:pPr>
              <a:lnSpc>
                <a:spcPts val="2167"/>
              </a:lnSpc>
            </a:pPr>
            <a:r>
              <a:rPr lang="en-US" sz="1750" dirty="0">
                <a:solidFill>
                  <a:srgbClr val="E5E0DF"/>
                </a:solidFill>
                <a:latin typeface="Roboto" panose="020B0604020202020204" charset="0"/>
                <a:ea typeface="Roboto" panose="020B0604020202020204" charset="0"/>
                <a:cs typeface="Roboto Mono Medium" pitchFamily="34" charset="-120"/>
              </a:rPr>
              <a:t>PCA–KMeans Alpha Design</a:t>
            </a:r>
            <a:endParaRPr lang="en-US" sz="1750" dirty="0">
              <a:latin typeface="Roboto" panose="020B0604020202020204" charset="0"/>
              <a:ea typeface="Roboto" panose="020B0604020202020204" charset="0"/>
            </a:endParaRPr>
          </a:p>
        </p:txBody>
      </p:sp>
      <p:sp>
        <p:nvSpPr>
          <p:cNvPr id="14" name="Text 12"/>
          <p:cNvSpPr/>
          <p:nvPr/>
        </p:nvSpPr>
        <p:spPr>
          <a:xfrm>
            <a:off x="8027294" y="2246511"/>
            <a:ext cx="3503811" cy="573882"/>
          </a:xfrm>
          <a:prstGeom prst="rect">
            <a:avLst/>
          </a:prstGeom>
          <a:noFill/>
          <a:ln/>
        </p:spPr>
        <p:txBody>
          <a:bodyPr wrap="square" lIns="0" tIns="0" rIns="0" bIns="0" rtlCol="0" anchor="t"/>
          <a:lstStyle/>
          <a:p>
            <a:pPr>
              <a:lnSpc>
                <a:spcPts val="2250"/>
              </a:lnSpc>
            </a:pPr>
            <a:r>
              <a:rPr lang="en-US" sz="1375" dirty="0">
                <a:solidFill>
                  <a:srgbClr val="E5E0DF"/>
                </a:solidFill>
                <a:latin typeface="Roboto" pitchFamily="34" charset="0"/>
                <a:ea typeface="Roboto" pitchFamily="34" charset="-122"/>
                <a:cs typeface="Roboto" pitchFamily="34" charset="-120"/>
              </a:rPr>
              <a:t>Exploring the unsupervised learning approach for market regime identification.</a:t>
            </a:r>
            <a:endParaRPr lang="en-US" sz="1375" dirty="0"/>
          </a:p>
        </p:txBody>
      </p:sp>
      <p:sp>
        <p:nvSpPr>
          <p:cNvPr id="15" name="Text 13"/>
          <p:cNvSpPr/>
          <p:nvPr/>
        </p:nvSpPr>
        <p:spPr>
          <a:xfrm>
            <a:off x="660896" y="3134321"/>
            <a:ext cx="179388" cy="224234"/>
          </a:xfrm>
          <a:prstGeom prst="rect">
            <a:avLst/>
          </a:prstGeom>
          <a:noFill/>
          <a:ln/>
        </p:spPr>
        <p:txBody>
          <a:bodyPr wrap="none" lIns="0" tIns="0" rIns="0" bIns="0" rtlCol="0" anchor="t"/>
          <a:lstStyle/>
          <a:p>
            <a:pPr>
              <a:lnSpc>
                <a:spcPts val="2250"/>
              </a:lnSpc>
            </a:pPr>
            <a:r>
              <a:rPr lang="en-US" sz="1375" dirty="0">
                <a:solidFill>
                  <a:srgbClr val="E5E0DF"/>
                </a:solidFill>
                <a:latin typeface="Roboto Mono Light" pitchFamily="34" charset="0"/>
                <a:ea typeface="Roboto Mono Light" pitchFamily="34" charset="-122"/>
                <a:cs typeface="Roboto Mono Light" pitchFamily="34" charset="-120"/>
              </a:rPr>
              <a:t>04</a:t>
            </a:r>
            <a:endParaRPr lang="en-US" sz="1375" dirty="0"/>
          </a:p>
        </p:txBody>
      </p:sp>
      <p:sp>
        <p:nvSpPr>
          <p:cNvPr id="16" name="Shape 14"/>
          <p:cNvSpPr/>
          <p:nvPr/>
        </p:nvSpPr>
        <p:spPr>
          <a:xfrm>
            <a:off x="660896" y="3413819"/>
            <a:ext cx="3503811" cy="25400"/>
          </a:xfrm>
          <a:prstGeom prst="rect">
            <a:avLst/>
          </a:prstGeom>
          <a:solidFill>
            <a:srgbClr val="DCFF50"/>
          </a:solidFill>
          <a:ln/>
        </p:spPr>
      </p:sp>
      <p:sp>
        <p:nvSpPr>
          <p:cNvPr id="17" name="Text 15"/>
          <p:cNvSpPr/>
          <p:nvPr/>
        </p:nvSpPr>
        <p:spPr>
          <a:xfrm>
            <a:off x="660896" y="3554314"/>
            <a:ext cx="3503811" cy="560586"/>
          </a:xfrm>
          <a:prstGeom prst="rect">
            <a:avLst/>
          </a:prstGeom>
          <a:noFill/>
          <a:ln/>
        </p:spPr>
        <p:txBody>
          <a:bodyPr wrap="square" lIns="0" tIns="0" rIns="0" bIns="0" rtlCol="0" anchor="t"/>
          <a:lstStyle/>
          <a:p>
            <a:pPr>
              <a:lnSpc>
                <a:spcPts val="2167"/>
              </a:lnSpc>
            </a:pPr>
            <a:r>
              <a:rPr lang="en-US" sz="1750" dirty="0">
                <a:solidFill>
                  <a:srgbClr val="E5E0DF"/>
                </a:solidFill>
                <a:latin typeface="Roboto" panose="020B0604020202020204" charset="0"/>
                <a:ea typeface="Roboto" panose="020B0604020202020204" charset="0"/>
                <a:cs typeface="Roboto Mono Medium" pitchFamily="34" charset="-120"/>
              </a:rPr>
              <a:t>Random Forest Bagging Alpha Design</a:t>
            </a:r>
            <a:endParaRPr lang="en-US" sz="1750" dirty="0">
              <a:latin typeface="Roboto" panose="020B0604020202020204" charset="0"/>
              <a:ea typeface="Roboto" panose="020B0604020202020204" charset="0"/>
            </a:endParaRPr>
          </a:p>
        </p:txBody>
      </p:sp>
      <p:sp>
        <p:nvSpPr>
          <p:cNvPr id="18" name="Text 16"/>
          <p:cNvSpPr/>
          <p:nvPr/>
        </p:nvSpPr>
        <p:spPr>
          <a:xfrm>
            <a:off x="660896" y="4222452"/>
            <a:ext cx="3503811" cy="573882"/>
          </a:xfrm>
          <a:prstGeom prst="rect">
            <a:avLst/>
          </a:prstGeom>
          <a:noFill/>
          <a:ln/>
        </p:spPr>
        <p:txBody>
          <a:bodyPr wrap="square" lIns="0" tIns="0" rIns="0" bIns="0" rtlCol="0" anchor="t"/>
          <a:lstStyle/>
          <a:p>
            <a:pPr>
              <a:lnSpc>
                <a:spcPts val="2250"/>
              </a:lnSpc>
            </a:pPr>
            <a:r>
              <a:rPr lang="en-US" sz="1375" dirty="0">
                <a:solidFill>
                  <a:srgbClr val="E5E0DF"/>
                </a:solidFill>
                <a:latin typeface="Roboto" pitchFamily="34" charset="0"/>
                <a:ea typeface="Roboto" pitchFamily="34" charset="-122"/>
                <a:cs typeface="Roboto" pitchFamily="34" charset="-120"/>
              </a:rPr>
              <a:t>Examining the supervised learning model for directional predictions.</a:t>
            </a:r>
            <a:endParaRPr lang="en-US" sz="1375" dirty="0"/>
          </a:p>
        </p:txBody>
      </p:sp>
      <p:sp>
        <p:nvSpPr>
          <p:cNvPr id="19" name="Text 17"/>
          <p:cNvSpPr/>
          <p:nvPr/>
        </p:nvSpPr>
        <p:spPr>
          <a:xfrm>
            <a:off x="4344094" y="3134321"/>
            <a:ext cx="179388" cy="224234"/>
          </a:xfrm>
          <a:prstGeom prst="rect">
            <a:avLst/>
          </a:prstGeom>
          <a:noFill/>
          <a:ln/>
        </p:spPr>
        <p:txBody>
          <a:bodyPr wrap="none" lIns="0" tIns="0" rIns="0" bIns="0" rtlCol="0" anchor="t"/>
          <a:lstStyle/>
          <a:p>
            <a:pPr>
              <a:lnSpc>
                <a:spcPts val="2250"/>
              </a:lnSpc>
            </a:pPr>
            <a:r>
              <a:rPr lang="en-US" sz="1375" dirty="0">
                <a:solidFill>
                  <a:srgbClr val="E5E0DF"/>
                </a:solidFill>
                <a:latin typeface="Roboto Mono Light" pitchFamily="34" charset="0"/>
                <a:ea typeface="Roboto Mono Light" pitchFamily="34" charset="-122"/>
                <a:cs typeface="Roboto Mono Light" pitchFamily="34" charset="-120"/>
              </a:rPr>
              <a:t>05</a:t>
            </a:r>
            <a:endParaRPr lang="en-US" sz="1375" dirty="0"/>
          </a:p>
        </p:txBody>
      </p:sp>
      <p:sp>
        <p:nvSpPr>
          <p:cNvPr id="20" name="Shape 18"/>
          <p:cNvSpPr/>
          <p:nvPr/>
        </p:nvSpPr>
        <p:spPr>
          <a:xfrm>
            <a:off x="4344095" y="3413819"/>
            <a:ext cx="3503811" cy="25400"/>
          </a:xfrm>
          <a:prstGeom prst="rect">
            <a:avLst/>
          </a:prstGeom>
          <a:solidFill>
            <a:srgbClr val="DCFF50"/>
          </a:solidFill>
          <a:ln/>
        </p:spPr>
      </p:sp>
      <p:sp>
        <p:nvSpPr>
          <p:cNvPr id="21" name="Text 19"/>
          <p:cNvSpPr/>
          <p:nvPr/>
        </p:nvSpPr>
        <p:spPr>
          <a:xfrm>
            <a:off x="4344095" y="3554314"/>
            <a:ext cx="3503811" cy="560586"/>
          </a:xfrm>
          <a:prstGeom prst="rect">
            <a:avLst/>
          </a:prstGeom>
          <a:noFill/>
          <a:ln/>
        </p:spPr>
        <p:txBody>
          <a:bodyPr wrap="square" lIns="0" tIns="0" rIns="0" bIns="0" rtlCol="0" anchor="t"/>
          <a:lstStyle/>
          <a:p>
            <a:pPr>
              <a:lnSpc>
                <a:spcPts val="2167"/>
              </a:lnSpc>
            </a:pPr>
            <a:r>
              <a:rPr lang="en-US" sz="1750" dirty="0" smtClean="0">
                <a:solidFill>
                  <a:srgbClr val="E5E0DF"/>
                </a:solidFill>
                <a:latin typeface="Roboto" panose="020B0604020202020204" charset="0"/>
                <a:ea typeface="Roboto" panose="020B0604020202020204" charset="0"/>
                <a:cs typeface="Roboto Mono Medium" pitchFamily="34" charset="-120"/>
              </a:rPr>
              <a:t>Q&amp;A</a:t>
            </a:r>
            <a:endParaRPr lang="en-US" sz="1750" dirty="0">
              <a:latin typeface="Roboto" panose="020B0604020202020204" charset="0"/>
              <a:ea typeface="Roboto" panose="020B0604020202020204" charset="0"/>
            </a:endParaRPr>
          </a:p>
        </p:txBody>
      </p:sp>
      <p:sp>
        <p:nvSpPr>
          <p:cNvPr id="22" name="Text 20"/>
          <p:cNvSpPr/>
          <p:nvPr/>
        </p:nvSpPr>
        <p:spPr>
          <a:xfrm>
            <a:off x="4344095" y="4222452"/>
            <a:ext cx="3503811" cy="573882"/>
          </a:xfrm>
          <a:prstGeom prst="rect">
            <a:avLst/>
          </a:prstGeom>
          <a:noFill/>
          <a:ln/>
        </p:spPr>
        <p:txBody>
          <a:bodyPr wrap="square" lIns="0" tIns="0" rIns="0" bIns="0" rtlCol="0" anchor="t"/>
          <a:lstStyle/>
          <a:p>
            <a:pPr>
              <a:lnSpc>
                <a:spcPts val="2250"/>
              </a:lnSpc>
            </a:pPr>
            <a:r>
              <a:rPr lang="en-US" sz="1375" dirty="0" smtClean="0">
                <a:solidFill>
                  <a:srgbClr val="E5E0DF"/>
                </a:solidFill>
                <a:latin typeface="Roboto" pitchFamily="34" charset="0"/>
                <a:ea typeface="Roboto" pitchFamily="34" charset="-122"/>
                <a:cs typeface="Roboto" pitchFamily="34" charset="-120"/>
              </a:rPr>
              <a:t>Open discussion for questions and insights.</a:t>
            </a:r>
            <a:endParaRPr lang="en-US" sz="1375" dirty="0"/>
          </a:p>
        </p:txBody>
      </p:sp>
      <p:pic>
        <p:nvPicPr>
          <p:cNvPr id="31" name="Picture 30"/>
          <p:cNvPicPr>
            <a:picLocks noChangeAspect="1"/>
          </p:cNvPicPr>
          <p:nvPr/>
        </p:nvPicPr>
        <p:blipFill>
          <a:blip r:embed="rId3"/>
          <a:stretch>
            <a:fillRect/>
          </a:stretch>
        </p:blipFill>
        <p:spPr>
          <a:xfrm>
            <a:off x="10139723" y="6423154"/>
            <a:ext cx="1962424" cy="362001"/>
          </a:xfrm>
          <a:prstGeom prst="rect">
            <a:avLst/>
          </a:prstGeom>
        </p:spPr>
      </p:pic>
    </p:spTree>
    <p:extLst>
      <p:ext uri="{BB962C8B-B14F-4D97-AF65-F5344CB8AC3E}">
        <p14:creationId xmlns:p14="http://schemas.microsoft.com/office/powerpoint/2010/main" val="24647210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567260"/>
            <a:ext cx="5103614" cy="590649"/>
          </a:xfrm>
          <a:prstGeom prst="rect">
            <a:avLst/>
          </a:prstGeom>
          <a:noFill/>
          <a:ln/>
        </p:spPr>
        <p:txBody>
          <a:bodyPr wrap="none" lIns="0" tIns="0" rIns="0" bIns="0" rtlCol="0" anchor="t"/>
          <a:lstStyle/>
          <a:p>
            <a:pPr>
              <a:lnSpc>
                <a:spcPts val="4625"/>
              </a:lnSpc>
            </a:pPr>
            <a:r>
              <a:rPr lang="en-US" sz="3708" dirty="0">
                <a:solidFill>
                  <a:srgbClr val="FFFFFF"/>
                </a:solidFill>
                <a:latin typeface="Roboto" panose="020B0604020202020204" charset="0"/>
                <a:ea typeface="Roboto" panose="020B0604020202020204" charset="0"/>
                <a:cs typeface="Roboto Mono Medium" pitchFamily="34" charset="-120"/>
              </a:rPr>
              <a:t>Problem Background</a:t>
            </a:r>
            <a:endParaRPr lang="en-US" sz="3708" dirty="0">
              <a:latin typeface="Roboto" panose="020B0604020202020204" charset="0"/>
              <a:ea typeface="Roboto" panose="020B0604020202020204" charset="0"/>
            </a:endParaRPr>
          </a:p>
        </p:txBody>
      </p:sp>
      <p:sp>
        <p:nvSpPr>
          <p:cNvPr id="3" name="Text 1"/>
          <p:cNvSpPr/>
          <p:nvPr/>
        </p:nvSpPr>
        <p:spPr>
          <a:xfrm>
            <a:off x="661492" y="2535932"/>
            <a:ext cx="10869018" cy="302419"/>
          </a:xfrm>
          <a:prstGeom prst="rect">
            <a:avLst/>
          </a:prstGeom>
          <a:noFill/>
          <a:ln/>
        </p:spPr>
        <p:txBody>
          <a:bodyPr wrap="none" lIns="0" tIns="0" rIns="0" bIns="0" rtlCol="0" anchor="t"/>
          <a:lstStyle/>
          <a:p>
            <a:pPr>
              <a:lnSpc>
                <a:spcPts val="2375"/>
              </a:lnSpc>
            </a:pPr>
            <a:r>
              <a:rPr lang="en-US" sz="1458" dirty="0">
                <a:solidFill>
                  <a:srgbClr val="DCFF50"/>
                </a:solidFill>
                <a:latin typeface="Roboto" pitchFamily="34" charset="0"/>
                <a:ea typeface="Roboto" pitchFamily="34" charset="-122"/>
                <a:cs typeface="Roboto" pitchFamily="34" charset="-120"/>
              </a:rPr>
              <a:t>Goal:</a:t>
            </a:r>
            <a:r>
              <a:rPr lang="en-US" sz="1458" dirty="0">
                <a:solidFill>
                  <a:srgbClr val="E5E0DF"/>
                </a:solidFill>
                <a:latin typeface="Roboto" pitchFamily="34" charset="0"/>
                <a:ea typeface="Roboto" pitchFamily="34" charset="-122"/>
                <a:cs typeface="Roboto" pitchFamily="34" charset="-120"/>
              </a:rPr>
              <a:t> Build ML-driven algorithmic trading strategies that can adapt to dynamic market conditions and generate consistent alpha.</a:t>
            </a:r>
            <a:endParaRPr lang="en-US" sz="1458" dirty="0"/>
          </a:p>
        </p:txBody>
      </p:sp>
      <p:sp>
        <p:nvSpPr>
          <p:cNvPr id="4" name="Text 2"/>
          <p:cNvSpPr/>
          <p:nvPr/>
        </p:nvSpPr>
        <p:spPr>
          <a:xfrm>
            <a:off x="661492" y="3050977"/>
            <a:ext cx="10869018" cy="604838"/>
          </a:xfrm>
          <a:prstGeom prst="rect">
            <a:avLst/>
          </a:prstGeom>
          <a:noFill/>
          <a:ln/>
        </p:spPr>
        <p:txBody>
          <a:bodyPr wrap="square" lIns="0" tIns="0" rIns="0" bIns="0" rtlCol="0" anchor="t"/>
          <a:lstStyle/>
          <a:p>
            <a:pPr>
              <a:lnSpc>
                <a:spcPts val="2375"/>
              </a:lnSpc>
            </a:pPr>
            <a:r>
              <a:rPr lang="en-US" sz="1458" dirty="0">
                <a:solidFill>
                  <a:srgbClr val="DCFF50"/>
                </a:solidFill>
                <a:latin typeface="Roboto" pitchFamily="34" charset="0"/>
                <a:ea typeface="Roboto" pitchFamily="34" charset="-122"/>
                <a:cs typeface="Roboto" pitchFamily="34" charset="-120"/>
              </a:rPr>
              <a:t>Challenges:</a:t>
            </a:r>
            <a:r>
              <a:rPr lang="en-US" sz="1458" dirty="0">
                <a:solidFill>
                  <a:srgbClr val="E5E0DF"/>
                </a:solidFill>
                <a:latin typeface="Roboto" pitchFamily="34" charset="0"/>
                <a:ea typeface="Roboto" pitchFamily="34" charset="-122"/>
                <a:cs typeface="Roboto" pitchFamily="34" charset="-120"/>
              </a:rPr>
              <a:t> Financial markets are characterized by inherent noise, frequent regime shifts, and unpredictable return distributions. These factors make traditional quantitative models brittle and often lead to performance degradation over time.</a:t>
            </a:r>
            <a:endParaRPr lang="en-US" sz="1458" dirty="0"/>
          </a:p>
        </p:txBody>
      </p:sp>
      <p:sp>
        <p:nvSpPr>
          <p:cNvPr id="5" name="Text 3"/>
          <p:cNvSpPr/>
          <p:nvPr/>
        </p:nvSpPr>
        <p:spPr>
          <a:xfrm>
            <a:off x="661492" y="3868440"/>
            <a:ext cx="10869018" cy="604838"/>
          </a:xfrm>
          <a:prstGeom prst="rect">
            <a:avLst/>
          </a:prstGeom>
          <a:noFill/>
          <a:ln/>
        </p:spPr>
        <p:txBody>
          <a:bodyPr wrap="square" lIns="0" tIns="0" rIns="0" bIns="0" rtlCol="0" anchor="t"/>
          <a:lstStyle/>
          <a:p>
            <a:pPr>
              <a:lnSpc>
                <a:spcPts val="2375"/>
              </a:lnSpc>
            </a:pPr>
            <a:r>
              <a:rPr lang="en-US" sz="1458" dirty="0">
                <a:solidFill>
                  <a:srgbClr val="DCFF50"/>
                </a:solidFill>
                <a:latin typeface="Roboto" pitchFamily="34" charset="0"/>
                <a:ea typeface="Roboto" pitchFamily="34" charset="-122"/>
                <a:cs typeface="Roboto" pitchFamily="34" charset="-120"/>
              </a:rPr>
              <a:t>Need:</a:t>
            </a:r>
            <a:r>
              <a:rPr lang="en-US" sz="1458" dirty="0">
                <a:solidFill>
                  <a:srgbClr val="E5E0DF"/>
                </a:solidFill>
                <a:latin typeface="Roboto" pitchFamily="34" charset="0"/>
                <a:ea typeface="Roboto" pitchFamily="34" charset="-122"/>
                <a:cs typeface="Roboto" pitchFamily="34" charset="-120"/>
              </a:rPr>
              <a:t> Robust strategies require stable representations of market dynamics, models capable of handling non-stationarity, and risk management protocols that are responsive to changing volatility and liquidity.</a:t>
            </a:r>
            <a:endParaRPr lang="en-US" sz="1458" dirty="0"/>
          </a:p>
        </p:txBody>
      </p:sp>
      <p:sp>
        <p:nvSpPr>
          <p:cNvPr id="6" name="Text 4"/>
          <p:cNvSpPr/>
          <p:nvPr/>
        </p:nvSpPr>
        <p:spPr>
          <a:xfrm>
            <a:off x="661492" y="4685904"/>
            <a:ext cx="10869018" cy="604838"/>
          </a:xfrm>
          <a:prstGeom prst="rect">
            <a:avLst/>
          </a:prstGeom>
          <a:noFill/>
          <a:ln/>
        </p:spPr>
        <p:txBody>
          <a:bodyPr wrap="square" lIns="0" tIns="0" rIns="0" bIns="0" rtlCol="0" anchor="t"/>
          <a:lstStyle/>
          <a:p>
            <a:pPr>
              <a:lnSpc>
                <a:spcPts val="2375"/>
              </a:lnSpc>
            </a:pPr>
            <a:r>
              <a:rPr lang="en-US" sz="1458" dirty="0">
                <a:solidFill>
                  <a:srgbClr val="DCFF50"/>
                </a:solidFill>
                <a:latin typeface="Roboto" pitchFamily="34" charset="0"/>
                <a:ea typeface="Roboto" pitchFamily="34" charset="-122"/>
                <a:cs typeface="Roboto" pitchFamily="34" charset="-120"/>
              </a:rPr>
              <a:t>Solution:</a:t>
            </a:r>
            <a:r>
              <a:rPr lang="en-US" sz="1458" dirty="0">
                <a:solidFill>
                  <a:srgbClr val="E5E0DF"/>
                </a:solidFill>
                <a:latin typeface="Roboto" pitchFamily="34" charset="0"/>
                <a:ea typeface="Roboto" pitchFamily="34" charset="-122"/>
                <a:cs typeface="Roboto" pitchFamily="34" charset="-120"/>
              </a:rPr>
              <a:t> We have designed two complementary ML strategies—an unsupervised PCA-KMeans approach for market regime identification and a supervised Random Forest bagging model for directional predictions—to address these challenges.</a:t>
            </a:r>
            <a:endParaRPr lang="en-US" sz="1458" dirty="0"/>
          </a:p>
        </p:txBody>
      </p:sp>
      <p:pic>
        <p:nvPicPr>
          <p:cNvPr id="7" name="Picture 6"/>
          <p:cNvPicPr>
            <a:picLocks noChangeAspect="1"/>
          </p:cNvPicPr>
          <p:nvPr/>
        </p:nvPicPr>
        <p:blipFill>
          <a:blip r:embed="rId3"/>
          <a:stretch>
            <a:fillRect/>
          </a:stretch>
        </p:blipFill>
        <p:spPr>
          <a:xfrm>
            <a:off x="10229576" y="6411158"/>
            <a:ext cx="1962424" cy="362001"/>
          </a:xfrm>
          <a:prstGeom prst="rect">
            <a:avLst/>
          </a:prstGeom>
        </p:spPr>
      </p:pic>
    </p:spTree>
    <p:extLst>
      <p:ext uri="{BB962C8B-B14F-4D97-AF65-F5344CB8AC3E}">
        <p14:creationId xmlns:p14="http://schemas.microsoft.com/office/powerpoint/2010/main" val="11086542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0301" y="519411"/>
            <a:ext cx="4033044" cy="442119"/>
          </a:xfrm>
          <a:prstGeom prst="rect">
            <a:avLst/>
          </a:prstGeom>
          <a:noFill/>
          <a:ln/>
        </p:spPr>
        <p:txBody>
          <a:bodyPr wrap="none" lIns="0" tIns="0" rIns="0" bIns="0" rtlCol="0" anchor="t"/>
          <a:lstStyle/>
          <a:p>
            <a:pPr>
              <a:lnSpc>
                <a:spcPts val="3458"/>
              </a:lnSpc>
            </a:pPr>
            <a:r>
              <a:rPr lang="en-US" sz="2750" dirty="0">
                <a:solidFill>
                  <a:srgbClr val="FFFFFF"/>
                </a:solidFill>
                <a:latin typeface="Roboto Mono Medium" pitchFamily="34" charset="0"/>
                <a:ea typeface="Roboto Mono Medium" pitchFamily="34" charset="-122"/>
                <a:cs typeface="Roboto Mono Medium" pitchFamily="34" charset="-120"/>
              </a:rPr>
              <a:t>System Architecture</a:t>
            </a:r>
            <a:endParaRPr lang="en-US" sz="2750" dirty="0"/>
          </a:p>
        </p:txBody>
      </p:sp>
      <p:pic>
        <p:nvPicPr>
          <p:cNvPr id="3" name="Image 0" descr="preencoded.png"/>
          <p:cNvPicPr>
            <a:picLocks noChangeAspect="1"/>
          </p:cNvPicPr>
          <p:nvPr/>
        </p:nvPicPr>
        <p:blipFill>
          <a:blip r:embed="rId3"/>
          <a:stretch>
            <a:fillRect/>
          </a:stretch>
        </p:blipFill>
        <p:spPr>
          <a:xfrm>
            <a:off x="660301" y="1244501"/>
            <a:ext cx="707430" cy="849015"/>
          </a:xfrm>
          <a:prstGeom prst="rect">
            <a:avLst/>
          </a:prstGeom>
        </p:spPr>
      </p:pic>
      <p:sp>
        <p:nvSpPr>
          <p:cNvPr id="4" name="Text 1"/>
          <p:cNvSpPr/>
          <p:nvPr/>
        </p:nvSpPr>
        <p:spPr>
          <a:xfrm>
            <a:off x="1509217" y="1385987"/>
            <a:ext cx="1768773" cy="221059"/>
          </a:xfrm>
          <a:prstGeom prst="rect">
            <a:avLst/>
          </a:prstGeom>
          <a:noFill/>
          <a:ln/>
        </p:spPr>
        <p:txBody>
          <a:bodyPr wrap="none" lIns="0" tIns="0" rIns="0" bIns="0" rtlCol="0" anchor="t"/>
          <a:lstStyle/>
          <a:p>
            <a:pPr>
              <a:lnSpc>
                <a:spcPts val="1708"/>
              </a:lnSpc>
            </a:pPr>
            <a:r>
              <a:rPr lang="en-US" sz="1375" dirty="0">
                <a:solidFill>
                  <a:srgbClr val="E5E0DF"/>
                </a:solidFill>
                <a:latin typeface="Roboto" panose="020B0604020202020204" charset="0"/>
                <a:ea typeface="Roboto" panose="020B0604020202020204" charset="0"/>
                <a:cs typeface="Roboto Mono Medium" pitchFamily="34" charset="-120"/>
              </a:rPr>
              <a:t>Data Ingestion</a:t>
            </a:r>
            <a:endParaRPr lang="en-US" sz="1375" dirty="0">
              <a:latin typeface="Roboto" panose="020B0604020202020204" charset="0"/>
              <a:ea typeface="Roboto" panose="020B0604020202020204" charset="0"/>
            </a:endParaRPr>
          </a:p>
        </p:txBody>
      </p:sp>
      <p:sp>
        <p:nvSpPr>
          <p:cNvPr id="5" name="Text 2"/>
          <p:cNvSpPr/>
          <p:nvPr/>
        </p:nvSpPr>
        <p:spPr>
          <a:xfrm>
            <a:off x="1509217" y="1691879"/>
            <a:ext cx="10022483" cy="226318"/>
          </a:xfrm>
          <a:prstGeom prst="rect">
            <a:avLst/>
          </a:prstGeom>
          <a:noFill/>
          <a:ln/>
        </p:spPr>
        <p:txBody>
          <a:bodyPr wrap="none" lIns="0" tIns="0" rIns="0" bIns="0" rtlCol="0" anchor="t"/>
          <a:lstStyle/>
          <a:p>
            <a:pPr>
              <a:lnSpc>
                <a:spcPts val="1750"/>
              </a:lnSpc>
            </a:pPr>
            <a:r>
              <a:rPr lang="en-US" sz="1083" dirty="0">
                <a:solidFill>
                  <a:srgbClr val="E5E0DF"/>
                </a:solidFill>
                <a:latin typeface="Roboto" pitchFamily="34" charset="0"/>
                <a:ea typeface="Roboto" pitchFamily="34" charset="-122"/>
                <a:cs typeface="Roboto" pitchFamily="34" charset="-120"/>
              </a:rPr>
              <a:t>Leveraging Backtrader for historical data and real-time APIs for live feeds, ensuring comprehensive market coverage.</a:t>
            </a:r>
            <a:endParaRPr lang="en-US" sz="1083" dirty="0"/>
          </a:p>
        </p:txBody>
      </p:sp>
      <p:pic>
        <p:nvPicPr>
          <p:cNvPr id="6" name="Image 1" descr="preencoded.png"/>
          <p:cNvPicPr>
            <a:picLocks noChangeAspect="1"/>
          </p:cNvPicPr>
          <p:nvPr/>
        </p:nvPicPr>
        <p:blipFill>
          <a:blip r:embed="rId4"/>
          <a:stretch>
            <a:fillRect/>
          </a:stretch>
        </p:blipFill>
        <p:spPr>
          <a:xfrm>
            <a:off x="660301" y="2093516"/>
            <a:ext cx="707430" cy="849015"/>
          </a:xfrm>
          <a:prstGeom prst="rect">
            <a:avLst/>
          </a:prstGeom>
        </p:spPr>
      </p:pic>
      <p:sp>
        <p:nvSpPr>
          <p:cNvPr id="7" name="Text 3"/>
          <p:cNvSpPr/>
          <p:nvPr/>
        </p:nvSpPr>
        <p:spPr>
          <a:xfrm>
            <a:off x="1509217" y="2235002"/>
            <a:ext cx="3607494" cy="221059"/>
          </a:xfrm>
          <a:prstGeom prst="rect">
            <a:avLst/>
          </a:prstGeom>
          <a:noFill/>
          <a:ln/>
        </p:spPr>
        <p:txBody>
          <a:bodyPr wrap="none" lIns="0" tIns="0" rIns="0" bIns="0" rtlCol="0" anchor="t"/>
          <a:lstStyle/>
          <a:p>
            <a:pPr>
              <a:lnSpc>
                <a:spcPts val="1708"/>
              </a:lnSpc>
            </a:pPr>
            <a:r>
              <a:rPr lang="en-US" sz="1375" dirty="0">
                <a:solidFill>
                  <a:srgbClr val="E5E0DF"/>
                </a:solidFill>
                <a:latin typeface="Roboto" panose="020B0604020202020204" charset="0"/>
                <a:ea typeface="Roboto" panose="020B0604020202020204" charset="0"/>
                <a:cs typeface="Roboto Mono Medium" pitchFamily="34" charset="-120"/>
              </a:rPr>
              <a:t>Rolling Window Feature Computation</a:t>
            </a:r>
            <a:endParaRPr lang="en-US" sz="1375" dirty="0">
              <a:latin typeface="Roboto" panose="020B0604020202020204" charset="0"/>
              <a:ea typeface="Roboto" panose="020B0604020202020204" charset="0"/>
            </a:endParaRPr>
          </a:p>
        </p:txBody>
      </p:sp>
      <p:sp>
        <p:nvSpPr>
          <p:cNvPr id="8" name="Text 4"/>
          <p:cNvSpPr/>
          <p:nvPr/>
        </p:nvSpPr>
        <p:spPr>
          <a:xfrm>
            <a:off x="1509217" y="2540894"/>
            <a:ext cx="10022483" cy="226318"/>
          </a:xfrm>
          <a:prstGeom prst="rect">
            <a:avLst/>
          </a:prstGeom>
          <a:noFill/>
          <a:ln/>
        </p:spPr>
        <p:txBody>
          <a:bodyPr wrap="none" lIns="0" tIns="0" rIns="0" bIns="0" rtlCol="0" anchor="t"/>
          <a:lstStyle/>
          <a:p>
            <a:pPr>
              <a:lnSpc>
                <a:spcPts val="1750"/>
              </a:lnSpc>
            </a:pPr>
            <a:r>
              <a:rPr lang="en-US" sz="1083" dirty="0">
                <a:solidFill>
                  <a:srgbClr val="E5E0DF"/>
                </a:solidFill>
                <a:latin typeface="Roboto" pitchFamily="34" charset="0"/>
                <a:ea typeface="Roboto" pitchFamily="34" charset="-122"/>
                <a:cs typeface="Roboto" pitchFamily="34" charset="-120"/>
              </a:rPr>
              <a:t>Features are calculated over dynamic windows to capture evolving market conditions and ensure model responsiveness.</a:t>
            </a:r>
            <a:endParaRPr lang="en-US" sz="1083" dirty="0"/>
          </a:p>
        </p:txBody>
      </p:sp>
      <p:pic>
        <p:nvPicPr>
          <p:cNvPr id="9" name="Image 2" descr="preencoded.png"/>
          <p:cNvPicPr>
            <a:picLocks noChangeAspect="1"/>
          </p:cNvPicPr>
          <p:nvPr/>
        </p:nvPicPr>
        <p:blipFill>
          <a:blip r:embed="rId5"/>
          <a:stretch>
            <a:fillRect/>
          </a:stretch>
        </p:blipFill>
        <p:spPr>
          <a:xfrm>
            <a:off x="660301" y="2942531"/>
            <a:ext cx="707430" cy="849015"/>
          </a:xfrm>
          <a:prstGeom prst="rect">
            <a:avLst/>
          </a:prstGeom>
        </p:spPr>
      </p:pic>
      <p:sp>
        <p:nvSpPr>
          <p:cNvPr id="10" name="Text 5"/>
          <p:cNvSpPr/>
          <p:nvPr/>
        </p:nvSpPr>
        <p:spPr>
          <a:xfrm>
            <a:off x="1509217" y="3084017"/>
            <a:ext cx="1768773" cy="221059"/>
          </a:xfrm>
          <a:prstGeom prst="rect">
            <a:avLst/>
          </a:prstGeom>
          <a:noFill/>
          <a:ln/>
        </p:spPr>
        <p:txBody>
          <a:bodyPr wrap="none" lIns="0" tIns="0" rIns="0" bIns="0" rtlCol="0" anchor="t"/>
          <a:lstStyle/>
          <a:p>
            <a:pPr>
              <a:lnSpc>
                <a:spcPts val="1708"/>
              </a:lnSpc>
            </a:pPr>
            <a:r>
              <a:rPr lang="en-US" sz="1375" dirty="0">
                <a:solidFill>
                  <a:srgbClr val="E5E0DF"/>
                </a:solidFill>
                <a:latin typeface="Roboto" panose="020B0604020202020204" charset="0"/>
                <a:ea typeface="Roboto" panose="020B0604020202020204" charset="0"/>
                <a:cs typeface="Roboto Mono Medium" pitchFamily="34" charset="-120"/>
              </a:rPr>
              <a:t>Model Training</a:t>
            </a:r>
            <a:endParaRPr lang="en-US" sz="1375" dirty="0">
              <a:latin typeface="Roboto" panose="020B0604020202020204" charset="0"/>
              <a:ea typeface="Roboto" panose="020B0604020202020204" charset="0"/>
            </a:endParaRPr>
          </a:p>
        </p:txBody>
      </p:sp>
      <p:sp>
        <p:nvSpPr>
          <p:cNvPr id="11" name="Text 6"/>
          <p:cNvSpPr/>
          <p:nvPr/>
        </p:nvSpPr>
        <p:spPr>
          <a:xfrm>
            <a:off x="1509217" y="3389908"/>
            <a:ext cx="10022483" cy="226318"/>
          </a:xfrm>
          <a:prstGeom prst="rect">
            <a:avLst/>
          </a:prstGeom>
          <a:noFill/>
          <a:ln/>
        </p:spPr>
        <p:txBody>
          <a:bodyPr wrap="none" lIns="0" tIns="0" rIns="0" bIns="0" rtlCol="0" anchor="t"/>
          <a:lstStyle/>
          <a:p>
            <a:pPr>
              <a:lnSpc>
                <a:spcPts val="1750"/>
              </a:lnSpc>
            </a:pPr>
            <a:r>
              <a:rPr lang="en-US" sz="1083" dirty="0">
                <a:solidFill>
                  <a:srgbClr val="E5E0DF"/>
                </a:solidFill>
                <a:latin typeface="Roboto" pitchFamily="34" charset="0"/>
                <a:ea typeface="Roboto" pitchFamily="34" charset="-122"/>
                <a:cs typeface="Roboto" pitchFamily="34" charset="-120"/>
              </a:rPr>
              <a:t>Continuous retraining of PCA–KMeans for regime identification and Random Forest for predictive accuracy.</a:t>
            </a:r>
            <a:endParaRPr lang="en-US" sz="1083" dirty="0"/>
          </a:p>
        </p:txBody>
      </p:sp>
      <p:pic>
        <p:nvPicPr>
          <p:cNvPr id="12" name="Image 3" descr="preencoded.png"/>
          <p:cNvPicPr>
            <a:picLocks noChangeAspect="1"/>
          </p:cNvPicPr>
          <p:nvPr/>
        </p:nvPicPr>
        <p:blipFill>
          <a:blip r:embed="rId6"/>
          <a:stretch>
            <a:fillRect/>
          </a:stretch>
        </p:blipFill>
        <p:spPr>
          <a:xfrm>
            <a:off x="660301" y="3791545"/>
            <a:ext cx="707430" cy="849015"/>
          </a:xfrm>
          <a:prstGeom prst="rect">
            <a:avLst/>
          </a:prstGeom>
        </p:spPr>
      </p:pic>
      <p:sp>
        <p:nvSpPr>
          <p:cNvPr id="13" name="Text 7"/>
          <p:cNvSpPr/>
          <p:nvPr/>
        </p:nvSpPr>
        <p:spPr>
          <a:xfrm>
            <a:off x="1509217" y="3933032"/>
            <a:ext cx="2122091" cy="221059"/>
          </a:xfrm>
          <a:prstGeom prst="rect">
            <a:avLst/>
          </a:prstGeom>
          <a:noFill/>
          <a:ln/>
        </p:spPr>
        <p:txBody>
          <a:bodyPr wrap="none" lIns="0" tIns="0" rIns="0" bIns="0" rtlCol="0" anchor="t"/>
          <a:lstStyle/>
          <a:p>
            <a:pPr>
              <a:lnSpc>
                <a:spcPts val="1708"/>
              </a:lnSpc>
            </a:pPr>
            <a:r>
              <a:rPr lang="en-US" sz="1375" dirty="0">
                <a:solidFill>
                  <a:srgbClr val="E5E0DF"/>
                </a:solidFill>
                <a:latin typeface="Roboto" panose="020B0604020202020204" charset="0"/>
                <a:ea typeface="Roboto" panose="020B0604020202020204" charset="0"/>
                <a:cs typeface="Roboto Mono Medium" pitchFamily="34" charset="-120"/>
              </a:rPr>
              <a:t>Prediction/Inference</a:t>
            </a:r>
            <a:endParaRPr lang="en-US" sz="1375" dirty="0">
              <a:latin typeface="Roboto" panose="020B0604020202020204" charset="0"/>
              <a:ea typeface="Roboto" panose="020B0604020202020204" charset="0"/>
            </a:endParaRPr>
          </a:p>
        </p:txBody>
      </p:sp>
      <p:sp>
        <p:nvSpPr>
          <p:cNvPr id="14" name="Text 8"/>
          <p:cNvSpPr/>
          <p:nvPr/>
        </p:nvSpPr>
        <p:spPr>
          <a:xfrm>
            <a:off x="1509217" y="4238923"/>
            <a:ext cx="10022483" cy="226318"/>
          </a:xfrm>
          <a:prstGeom prst="rect">
            <a:avLst/>
          </a:prstGeom>
          <a:noFill/>
          <a:ln/>
        </p:spPr>
        <p:txBody>
          <a:bodyPr wrap="none" lIns="0" tIns="0" rIns="0" bIns="0" rtlCol="0" anchor="t"/>
          <a:lstStyle/>
          <a:p>
            <a:pPr>
              <a:lnSpc>
                <a:spcPts val="1750"/>
              </a:lnSpc>
            </a:pPr>
            <a:r>
              <a:rPr lang="en-US" sz="1083" dirty="0">
                <a:solidFill>
                  <a:srgbClr val="E5E0DF"/>
                </a:solidFill>
                <a:latin typeface="Roboto" pitchFamily="34" charset="0"/>
                <a:ea typeface="Roboto" pitchFamily="34" charset="-122"/>
                <a:cs typeface="Roboto" pitchFamily="34" charset="-120"/>
              </a:rPr>
              <a:t>Real-time generation of market regime classifications and directional signals from trained models.</a:t>
            </a:r>
            <a:endParaRPr lang="en-US" sz="1083" dirty="0"/>
          </a:p>
        </p:txBody>
      </p:sp>
      <p:pic>
        <p:nvPicPr>
          <p:cNvPr id="15" name="Image 4" descr="preencoded.png"/>
          <p:cNvPicPr>
            <a:picLocks noChangeAspect="1"/>
          </p:cNvPicPr>
          <p:nvPr/>
        </p:nvPicPr>
        <p:blipFill>
          <a:blip r:embed="rId7"/>
          <a:stretch>
            <a:fillRect/>
          </a:stretch>
        </p:blipFill>
        <p:spPr>
          <a:xfrm>
            <a:off x="660301" y="4640560"/>
            <a:ext cx="707430" cy="849015"/>
          </a:xfrm>
          <a:prstGeom prst="rect">
            <a:avLst/>
          </a:prstGeom>
        </p:spPr>
      </p:pic>
      <p:sp>
        <p:nvSpPr>
          <p:cNvPr id="16" name="Text 9"/>
          <p:cNvSpPr/>
          <p:nvPr/>
        </p:nvSpPr>
        <p:spPr>
          <a:xfrm>
            <a:off x="1509217" y="4782046"/>
            <a:ext cx="1768773" cy="221059"/>
          </a:xfrm>
          <a:prstGeom prst="rect">
            <a:avLst/>
          </a:prstGeom>
          <a:noFill/>
          <a:ln/>
        </p:spPr>
        <p:txBody>
          <a:bodyPr wrap="none" lIns="0" tIns="0" rIns="0" bIns="0" rtlCol="0" anchor="t"/>
          <a:lstStyle/>
          <a:p>
            <a:pPr>
              <a:lnSpc>
                <a:spcPts val="1708"/>
              </a:lnSpc>
            </a:pPr>
            <a:r>
              <a:rPr lang="en-US" sz="1375" dirty="0">
                <a:solidFill>
                  <a:srgbClr val="E5E0DF"/>
                </a:solidFill>
                <a:latin typeface="Roboto" panose="020B0604020202020204" charset="0"/>
                <a:ea typeface="Roboto" panose="020B0604020202020204" charset="0"/>
                <a:cs typeface="Roboto Mono Medium" pitchFamily="34" charset="-120"/>
              </a:rPr>
              <a:t>Trade Decision</a:t>
            </a:r>
            <a:endParaRPr lang="en-US" sz="1375" dirty="0">
              <a:latin typeface="Roboto" panose="020B0604020202020204" charset="0"/>
              <a:ea typeface="Roboto" panose="020B0604020202020204" charset="0"/>
            </a:endParaRPr>
          </a:p>
        </p:txBody>
      </p:sp>
      <p:sp>
        <p:nvSpPr>
          <p:cNvPr id="17" name="Text 10"/>
          <p:cNvSpPr/>
          <p:nvPr/>
        </p:nvSpPr>
        <p:spPr>
          <a:xfrm>
            <a:off x="1509217" y="5087938"/>
            <a:ext cx="10022483" cy="226318"/>
          </a:xfrm>
          <a:prstGeom prst="rect">
            <a:avLst/>
          </a:prstGeom>
          <a:noFill/>
          <a:ln/>
        </p:spPr>
        <p:txBody>
          <a:bodyPr wrap="none" lIns="0" tIns="0" rIns="0" bIns="0" rtlCol="0" anchor="t"/>
          <a:lstStyle/>
          <a:p>
            <a:pPr>
              <a:lnSpc>
                <a:spcPts val="1750"/>
              </a:lnSpc>
            </a:pPr>
            <a:r>
              <a:rPr lang="en-US" sz="1083" dirty="0">
                <a:solidFill>
                  <a:srgbClr val="E5E0DF"/>
                </a:solidFill>
                <a:latin typeface="Roboto" pitchFamily="34" charset="0"/>
                <a:ea typeface="Roboto" pitchFamily="34" charset="-122"/>
                <a:cs typeface="Roboto" pitchFamily="34" charset="-120"/>
              </a:rPr>
              <a:t>Algorithmic decision-making based on model predictions, integrated with pre-defined trading rules.</a:t>
            </a:r>
            <a:endParaRPr lang="en-US" sz="1083" dirty="0"/>
          </a:p>
        </p:txBody>
      </p:sp>
      <p:pic>
        <p:nvPicPr>
          <p:cNvPr id="18" name="Image 5" descr="preencoded.png"/>
          <p:cNvPicPr>
            <a:picLocks noChangeAspect="1"/>
          </p:cNvPicPr>
          <p:nvPr/>
        </p:nvPicPr>
        <p:blipFill>
          <a:blip r:embed="rId8"/>
          <a:stretch>
            <a:fillRect/>
          </a:stretch>
        </p:blipFill>
        <p:spPr>
          <a:xfrm>
            <a:off x="660301" y="5489575"/>
            <a:ext cx="707430" cy="849015"/>
          </a:xfrm>
          <a:prstGeom prst="rect">
            <a:avLst/>
          </a:prstGeom>
        </p:spPr>
      </p:pic>
      <p:sp>
        <p:nvSpPr>
          <p:cNvPr id="19" name="Text 11"/>
          <p:cNvSpPr/>
          <p:nvPr/>
        </p:nvSpPr>
        <p:spPr>
          <a:xfrm>
            <a:off x="1509217" y="5631061"/>
            <a:ext cx="1768773" cy="221059"/>
          </a:xfrm>
          <a:prstGeom prst="rect">
            <a:avLst/>
          </a:prstGeom>
          <a:noFill/>
          <a:ln/>
        </p:spPr>
        <p:txBody>
          <a:bodyPr wrap="none" lIns="0" tIns="0" rIns="0" bIns="0" rtlCol="0" anchor="t"/>
          <a:lstStyle/>
          <a:p>
            <a:pPr>
              <a:lnSpc>
                <a:spcPts val="1708"/>
              </a:lnSpc>
            </a:pPr>
            <a:r>
              <a:rPr lang="en-US" sz="1375" dirty="0">
                <a:solidFill>
                  <a:srgbClr val="E5E0DF"/>
                </a:solidFill>
                <a:latin typeface="Roboto" panose="020B0604020202020204" charset="0"/>
                <a:ea typeface="Roboto" panose="020B0604020202020204" charset="0"/>
                <a:cs typeface="Roboto Mono Medium" pitchFamily="34" charset="-120"/>
              </a:rPr>
              <a:t>Risk Logic</a:t>
            </a:r>
            <a:endParaRPr lang="en-US" sz="1375" dirty="0">
              <a:latin typeface="Roboto" panose="020B0604020202020204" charset="0"/>
              <a:ea typeface="Roboto" panose="020B0604020202020204" charset="0"/>
            </a:endParaRPr>
          </a:p>
        </p:txBody>
      </p:sp>
      <p:sp>
        <p:nvSpPr>
          <p:cNvPr id="20" name="Text 12"/>
          <p:cNvSpPr/>
          <p:nvPr/>
        </p:nvSpPr>
        <p:spPr>
          <a:xfrm>
            <a:off x="1509217" y="5936953"/>
            <a:ext cx="10022483" cy="226318"/>
          </a:xfrm>
          <a:prstGeom prst="rect">
            <a:avLst/>
          </a:prstGeom>
          <a:noFill/>
          <a:ln/>
        </p:spPr>
        <p:txBody>
          <a:bodyPr wrap="none" lIns="0" tIns="0" rIns="0" bIns="0" rtlCol="0" anchor="t"/>
          <a:lstStyle/>
          <a:p>
            <a:pPr>
              <a:lnSpc>
                <a:spcPts val="1750"/>
              </a:lnSpc>
            </a:pPr>
            <a:r>
              <a:rPr lang="en-US" sz="1083" dirty="0">
                <a:solidFill>
                  <a:srgbClr val="E5E0DF"/>
                </a:solidFill>
                <a:latin typeface="Roboto" pitchFamily="34" charset="0"/>
                <a:ea typeface="Roboto" pitchFamily="34" charset="-122"/>
                <a:cs typeface="Roboto" pitchFamily="34" charset="-120"/>
              </a:rPr>
              <a:t>Incorporating Average True Range (ATR) for position sizing, filtering for expiration week, and adhering to restricted trading hours to mitigate risk.</a:t>
            </a:r>
            <a:endParaRPr lang="en-US" sz="1083" dirty="0"/>
          </a:p>
        </p:txBody>
      </p:sp>
      <p:pic>
        <p:nvPicPr>
          <p:cNvPr id="21" name="Picture 20"/>
          <p:cNvPicPr>
            <a:picLocks noChangeAspect="1"/>
          </p:cNvPicPr>
          <p:nvPr/>
        </p:nvPicPr>
        <p:blipFill>
          <a:blip r:embed="rId9"/>
          <a:stretch>
            <a:fillRect/>
          </a:stretch>
        </p:blipFill>
        <p:spPr>
          <a:xfrm>
            <a:off x="10110995" y="6423967"/>
            <a:ext cx="1962424" cy="362001"/>
          </a:xfrm>
          <a:prstGeom prst="rect">
            <a:avLst/>
          </a:prstGeom>
        </p:spPr>
      </p:pic>
    </p:spTree>
    <p:extLst>
      <p:ext uri="{BB962C8B-B14F-4D97-AF65-F5344CB8AC3E}">
        <p14:creationId xmlns:p14="http://schemas.microsoft.com/office/powerpoint/2010/main" val="32356762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312268"/>
            <a:ext cx="5387182" cy="590649"/>
          </a:xfrm>
          <a:prstGeom prst="rect">
            <a:avLst/>
          </a:prstGeom>
          <a:noFill/>
          <a:ln/>
        </p:spPr>
        <p:txBody>
          <a:bodyPr wrap="none" lIns="0" tIns="0" rIns="0" bIns="0" rtlCol="0" anchor="t"/>
          <a:lstStyle/>
          <a:p>
            <a:pPr>
              <a:lnSpc>
                <a:spcPts val="4625"/>
              </a:lnSpc>
            </a:pPr>
            <a:r>
              <a:rPr lang="en-US" sz="3708" dirty="0">
                <a:solidFill>
                  <a:srgbClr val="FFFFFF"/>
                </a:solidFill>
                <a:latin typeface="Roboto" panose="020B0604020202020204" charset="0"/>
                <a:ea typeface="Roboto" panose="020B0604020202020204" charset="0"/>
                <a:cs typeface="Roboto Mono Medium" pitchFamily="34" charset="-120"/>
              </a:rPr>
              <a:t>Feature Engineering</a:t>
            </a:r>
            <a:endParaRPr lang="en-US" sz="3708" dirty="0">
              <a:latin typeface="Roboto" panose="020B0604020202020204" charset="0"/>
              <a:ea typeface="Roboto" panose="020B0604020202020204" charset="0"/>
            </a:endParaRPr>
          </a:p>
        </p:txBody>
      </p:sp>
      <p:sp>
        <p:nvSpPr>
          <p:cNvPr id="3" name="Text 1"/>
          <p:cNvSpPr/>
          <p:nvPr/>
        </p:nvSpPr>
        <p:spPr>
          <a:xfrm>
            <a:off x="661492" y="2280940"/>
            <a:ext cx="10869018" cy="907257"/>
          </a:xfrm>
          <a:prstGeom prst="rect">
            <a:avLst/>
          </a:prstGeom>
          <a:noFill/>
          <a:ln/>
        </p:spPr>
        <p:txBody>
          <a:bodyPr wrap="square" lIns="0" tIns="0" rIns="0" bIns="0" rtlCol="0" anchor="t"/>
          <a:lstStyle/>
          <a:p>
            <a:pPr>
              <a:lnSpc>
                <a:spcPts val="2375"/>
              </a:lnSpc>
            </a:pPr>
            <a:r>
              <a:rPr lang="en-US" sz="1458" dirty="0">
                <a:solidFill>
                  <a:srgbClr val="E5E0DF"/>
                </a:solidFill>
                <a:latin typeface="Roboto" pitchFamily="34" charset="0"/>
                <a:ea typeface="Roboto" pitchFamily="34" charset="-122"/>
                <a:cs typeface="Roboto" pitchFamily="34" charset="-120"/>
              </a:rPr>
              <a:t>Our feature set is designed to capture a wide array of market dynamics, from micro-price movements to broader trend and momentum signals. Each feature is selected for its relevance in predicting future price action and is aligned into rolling windows to maintain currency with market conditions.</a:t>
            </a:r>
            <a:endParaRPr lang="en-US" sz="1458" dirty="0"/>
          </a:p>
        </p:txBody>
      </p:sp>
      <p:sp>
        <p:nvSpPr>
          <p:cNvPr id="4" name="Text 2"/>
          <p:cNvSpPr/>
          <p:nvPr/>
        </p:nvSpPr>
        <p:spPr>
          <a:xfrm>
            <a:off x="661492" y="3400822"/>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Log Returns:</a:t>
            </a:r>
            <a:r>
              <a:rPr lang="en-US" sz="1458" dirty="0">
                <a:solidFill>
                  <a:srgbClr val="E5E0DF"/>
                </a:solidFill>
                <a:latin typeface="Roboto" pitchFamily="34" charset="0"/>
                <a:ea typeface="Roboto" pitchFamily="34" charset="-122"/>
                <a:cs typeface="Roboto" pitchFamily="34" charset="-120"/>
              </a:rPr>
              <a:t> Capturing the fundamental, continuously compounded micro-price movements.</a:t>
            </a:r>
            <a:endParaRPr lang="en-US" sz="1458" dirty="0"/>
          </a:p>
        </p:txBody>
      </p:sp>
      <p:sp>
        <p:nvSpPr>
          <p:cNvPr id="5" name="Text 3"/>
          <p:cNvSpPr/>
          <p:nvPr/>
        </p:nvSpPr>
        <p:spPr>
          <a:xfrm>
            <a:off x="661492" y="3769321"/>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Average True Range (ATR):</a:t>
            </a:r>
            <a:r>
              <a:rPr lang="en-US" sz="1458" dirty="0">
                <a:solidFill>
                  <a:srgbClr val="E5E0DF"/>
                </a:solidFill>
                <a:latin typeface="Roboto" pitchFamily="34" charset="0"/>
                <a:ea typeface="Roboto" pitchFamily="34" charset="-122"/>
                <a:cs typeface="Roboto" pitchFamily="34" charset="-120"/>
              </a:rPr>
              <a:t> Identifying periods of high or low volatility, crucial for adaptive position sizing.</a:t>
            </a:r>
            <a:endParaRPr lang="en-US" sz="1458" dirty="0"/>
          </a:p>
        </p:txBody>
      </p:sp>
      <p:sp>
        <p:nvSpPr>
          <p:cNvPr id="6" name="Text 4"/>
          <p:cNvSpPr/>
          <p:nvPr/>
        </p:nvSpPr>
        <p:spPr>
          <a:xfrm>
            <a:off x="661492" y="4137820"/>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00"/>
                </a:solidFill>
                <a:latin typeface="Roboto" pitchFamily="34" charset="0"/>
                <a:ea typeface="Roboto" pitchFamily="34" charset="-122"/>
                <a:cs typeface="Roboto" pitchFamily="34" charset="-120"/>
              </a:rPr>
              <a:t>Relative Strength Index (RSI):</a:t>
            </a:r>
            <a:r>
              <a:rPr lang="en-US" sz="1458" dirty="0">
                <a:solidFill>
                  <a:srgbClr val="E5E0DF"/>
                </a:solidFill>
                <a:latin typeface="Roboto" pitchFamily="34" charset="0"/>
                <a:ea typeface="Roboto" pitchFamily="34" charset="-122"/>
                <a:cs typeface="Roboto" pitchFamily="34" charset="-120"/>
              </a:rPr>
              <a:t> Gauging momentum and identifying potential overbought or oversold conditions.</a:t>
            </a:r>
            <a:endParaRPr lang="en-US" sz="1458" dirty="0"/>
          </a:p>
        </p:txBody>
      </p:sp>
      <p:sp>
        <p:nvSpPr>
          <p:cNvPr id="7" name="Text 5"/>
          <p:cNvSpPr/>
          <p:nvPr/>
        </p:nvSpPr>
        <p:spPr>
          <a:xfrm>
            <a:off x="661492" y="4506318"/>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Simple Moving Averages (SMA):</a:t>
            </a:r>
            <a:r>
              <a:rPr lang="en-US" sz="1458" dirty="0">
                <a:solidFill>
                  <a:srgbClr val="E5E0DF"/>
                </a:solidFill>
                <a:latin typeface="Roboto" pitchFamily="34" charset="0"/>
                <a:ea typeface="Roboto" pitchFamily="34" charset="-122"/>
                <a:cs typeface="Roboto" pitchFamily="34" charset="-120"/>
              </a:rPr>
              <a:t> Filtering out noise and highlighting underlying trend directions across different timeframes.</a:t>
            </a:r>
            <a:endParaRPr lang="en-US" sz="1458" dirty="0"/>
          </a:p>
        </p:txBody>
      </p:sp>
      <p:sp>
        <p:nvSpPr>
          <p:cNvPr id="8" name="Text 6"/>
          <p:cNvSpPr/>
          <p:nvPr/>
        </p:nvSpPr>
        <p:spPr>
          <a:xfrm>
            <a:off x="661492" y="4874816"/>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Momentum:</a:t>
            </a:r>
            <a:r>
              <a:rPr lang="en-US" sz="1458" dirty="0">
                <a:solidFill>
                  <a:srgbClr val="E5E0DF"/>
                </a:solidFill>
                <a:latin typeface="Roboto" pitchFamily="34" charset="0"/>
                <a:ea typeface="Roboto" pitchFamily="34" charset="-122"/>
                <a:cs typeface="Roboto" pitchFamily="34" charset="-120"/>
              </a:rPr>
              <a:t> Calculated as deviation from a rolling mean to detect acceleration or deceleration in price.</a:t>
            </a:r>
            <a:endParaRPr lang="en-US" sz="1458" dirty="0"/>
          </a:p>
        </p:txBody>
      </p:sp>
      <p:sp>
        <p:nvSpPr>
          <p:cNvPr id="9" name="Text 7"/>
          <p:cNvSpPr/>
          <p:nvPr/>
        </p:nvSpPr>
        <p:spPr>
          <a:xfrm>
            <a:off x="661492" y="5243315"/>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Bollinger Bands:</a:t>
            </a:r>
            <a:r>
              <a:rPr lang="en-US" sz="1458" dirty="0">
                <a:solidFill>
                  <a:srgbClr val="E5E0DF"/>
                </a:solidFill>
                <a:latin typeface="Roboto" pitchFamily="34" charset="0"/>
                <a:ea typeface="Roboto" pitchFamily="34" charset="-122"/>
                <a:cs typeface="Roboto" pitchFamily="34" charset="-120"/>
              </a:rPr>
              <a:t> Identifying price extremities relative to a moving average and standard deviation for mean-reversion signals.</a:t>
            </a:r>
            <a:endParaRPr lang="en-US" sz="1458" dirty="0"/>
          </a:p>
        </p:txBody>
      </p:sp>
      <p:pic>
        <p:nvPicPr>
          <p:cNvPr id="10" name="Picture 9"/>
          <p:cNvPicPr>
            <a:picLocks noChangeAspect="1"/>
          </p:cNvPicPr>
          <p:nvPr/>
        </p:nvPicPr>
        <p:blipFill>
          <a:blip r:embed="rId3"/>
          <a:stretch>
            <a:fillRect/>
          </a:stretch>
        </p:blipFill>
        <p:spPr>
          <a:xfrm>
            <a:off x="10148701" y="6392305"/>
            <a:ext cx="1962424" cy="362001"/>
          </a:xfrm>
          <a:prstGeom prst="rect">
            <a:avLst/>
          </a:prstGeom>
        </p:spPr>
      </p:pic>
    </p:spTree>
    <p:extLst>
      <p:ext uri="{BB962C8B-B14F-4D97-AF65-F5344CB8AC3E}">
        <p14:creationId xmlns:p14="http://schemas.microsoft.com/office/powerpoint/2010/main" val="3100333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345307"/>
            <a:ext cx="7371953" cy="590649"/>
          </a:xfrm>
          <a:prstGeom prst="rect">
            <a:avLst/>
          </a:prstGeom>
          <a:noFill/>
          <a:ln/>
        </p:spPr>
        <p:txBody>
          <a:bodyPr wrap="none" lIns="0" tIns="0" rIns="0" bIns="0" rtlCol="0" anchor="t"/>
          <a:lstStyle/>
          <a:p>
            <a:pPr>
              <a:lnSpc>
                <a:spcPts val="4625"/>
              </a:lnSpc>
            </a:pPr>
            <a:r>
              <a:rPr lang="en-US" sz="3708" dirty="0">
                <a:solidFill>
                  <a:srgbClr val="FFFFFF"/>
                </a:solidFill>
                <a:latin typeface="Roboto" panose="020B0604020202020204" charset="0"/>
                <a:ea typeface="Roboto" panose="020B0604020202020204" charset="0"/>
                <a:cs typeface="Roboto Mono Medium" pitchFamily="34" charset="-120"/>
              </a:rPr>
              <a:t>Why Unsupervised Learning?</a:t>
            </a:r>
            <a:endParaRPr lang="en-US" sz="3708" dirty="0">
              <a:latin typeface="Roboto" panose="020B0604020202020204" charset="0"/>
              <a:ea typeface="Roboto" panose="020B0604020202020204" charset="0"/>
            </a:endParaRPr>
          </a:p>
        </p:txBody>
      </p:sp>
      <p:sp>
        <p:nvSpPr>
          <p:cNvPr id="3" name="Text 1"/>
          <p:cNvSpPr/>
          <p:nvPr/>
        </p:nvSpPr>
        <p:spPr>
          <a:xfrm>
            <a:off x="661492" y="2313980"/>
            <a:ext cx="10869018" cy="604838"/>
          </a:xfrm>
          <a:prstGeom prst="rect">
            <a:avLst/>
          </a:prstGeom>
          <a:noFill/>
          <a:ln/>
        </p:spPr>
        <p:txBody>
          <a:bodyPr wrap="square" lIns="0" tIns="0" rIns="0" bIns="0" rtlCol="0" anchor="t"/>
          <a:lstStyle/>
          <a:p>
            <a:pPr>
              <a:lnSpc>
                <a:spcPts val="2375"/>
              </a:lnSpc>
            </a:pPr>
            <a:r>
              <a:rPr lang="en-US" sz="1458" dirty="0">
                <a:solidFill>
                  <a:srgbClr val="E5E0DF"/>
                </a:solidFill>
                <a:latin typeface="Roboto" pitchFamily="34" charset="0"/>
                <a:ea typeface="Roboto" pitchFamily="34" charset="-122"/>
                <a:cs typeface="Roboto" pitchFamily="34" charset="-120"/>
              </a:rPr>
              <a:t>In the context of financial markets, applying traditional supervised learning can be challenging due to the lack of clear, consistent labels. Markets rarely provide explicit "buy" or "sell" signals that hold true across all conditions.</a:t>
            </a:r>
            <a:endParaRPr lang="en-US" sz="1458" dirty="0"/>
          </a:p>
        </p:txBody>
      </p:sp>
      <p:sp>
        <p:nvSpPr>
          <p:cNvPr id="4" name="Text 2"/>
          <p:cNvSpPr/>
          <p:nvPr/>
        </p:nvSpPr>
        <p:spPr>
          <a:xfrm>
            <a:off x="661492" y="3131444"/>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Noisy Labels:</a:t>
            </a:r>
            <a:r>
              <a:rPr lang="en-US" sz="1458" dirty="0">
                <a:solidFill>
                  <a:srgbClr val="E5E0DF"/>
                </a:solidFill>
                <a:latin typeface="Roboto" pitchFamily="34" charset="0"/>
                <a:ea typeface="Roboto" pitchFamily="34" charset="-122"/>
                <a:cs typeface="Roboto" pitchFamily="34" charset="-120"/>
              </a:rPr>
              <a:t> Markets don't provide clean, predefined labels for different states, making supervised learning difficult.</a:t>
            </a:r>
            <a:endParaRPr lang="en-US" sz="1458" dirty="0"/>
          </a:p>
        </p:txBody>
      </p:sp>
      <p:sp>
        <p:nvSpPr>
          <p:cNvPr id="5" name="Text 3"/>
          <p:cNvSpPr/>
          <p:nvPr/>
        </p:nvSpPr>
        <p:spPr>
          <a:xfrm>
            <a:off x="661492" y="3499942"/>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Hidden Regimes:</a:t>
            </a:r>
            <a:r>
              <a:rPr lang="en-US" sz="1458" dirty="0">
                <a:solidFill>
                  <a:srgbClr val="E5E0DF"/>
                </a:solidFill>
                <a:latin typeface="Roboto" pitchFamily="34" charset="0"/>
                <a:ea typeface="Roboto" pitchFamily="34" charset="-122"/>
                <a:cs typeface="Roboto" pitchFamily="34" charset="-120"/>
              </a:rPr>
              <a:t> PCA and clustering techniques excel at identifying latent market regimes (e.g., trending, range-bound, volatile) without requiring prior labels.</a:t>
            </a:r>
            <a:endParaRPr lang="en-US" sz="1458" dirty="0"/>
          </a:p>
        </p:txBody>
      </p:sp>
      <p:sp>
        <p:nvSpPr>
          <p:cNvPr id="6" name="Text 4"/>
          <p:cNvSpPr/>
          <p:nvPr/>
        </p:nvSpPr>
        <p:spPr>
          <a:xfrm>
            <a:off x="661492" y="4170859"/>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Structure Discovery:</a:t>
            </a:r>
            <a:r>
              <a:rPr lang="en-US" sz="1458" dirty="0">
                <a:solidFill>
                  <a:srgbClr val="E5E0DF"/>
                </a:solidFill>
                <a:latin typeface="Roboto" pitchFamily="34" charset="0"/>
                <a:ea typeface="Roboto" pitchFamily="34" charset="-122"/>
                <a:cs typeface="Roboto" pitchFamily="34" charset="-120"/>
              </a:rPr>
              <a:t> This approach captures inherent market structure, reducing reliance on subjective hand-labeling.</a:t>
            </a:r>
            <a:endParaRPr lang="en-US" sz="1458" dirty="0"/>
          </a:p>
        </p:txBody>
      </p:sp>
      <p:sp>
        <p:nvSpPr>
          <p:cNvPr id="7" name="Text 5"/>
          <p:cNvSpPr/>
          <p:nvPr/>
        </p:nvSpPr>
        <p:spPr>
          <a:xfrm>
            <a:off x="661492" y="4539357"/>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Noise Reduction:</a:t>
            </a:r>
            <a:r>
              <a:rPr lang="en-US" sz="1458" dirty="0">
                <a:solidFill>
                  <a:srgbClr val="E5E0DF"/>
                </a:solidFill>
                <a:latin typeface="Roboto" pitchFamily="34" charset="0"/>
                <a:ea typeface="Roboto" pitchFamily="34" charset="-122"/>
                <a:cs typeface="Roboto" pitchFamily="34" charset="-120"/>
              </a:rPr>
              <a:t> By grouping similar market conditions, unsupervised methods help reduce noise, leading to more stable classification and trading decisions.</a:t>
            </a:r>
            <a:endParaRPr lang="en-US" sz="1458" dirty="0"/>
          </a:p>
        </p:txBody>
      </p:sp>
      <p:sp>
        <p:nvSpPr>
          <p:cNvPr id="8" name="Text 6"/>
          <p:cNvSpPr/>
          <p:nvPr/>
        </p:nvSpPr>
        <p:spPr>
          <a:xfrm>
            <a:off x="661492" y="5210275"/>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Intraday Volatility:</a:t>
            </a:r>
            <a:r>
              <a:rPr lang="en-US" sz="1458" dirty="0">
                <a:solidFill>
                  <a:srgbClr val="E5E0DF"/>
                </a:solidFill>
                <a:latin typeface="Roboto" pitchFamily="34" charset="0"/>
                <a:ea typeface="Roboto" pitchFamily="34" charset="-122"/>
                <a:cs typeface="Roboto" pitchFamily="34" charset="-120"/>
              </a:rPr>
              <a:t> Particularly useful for highly volatile intraday futures markets where patterns are subtle and dynamic.</a:t>
            </a:r>
            <a:endParaRPr lang="en-US" sz="1458" dirty="0"/>
          </a:p>
        </p:txBody>
      </p:sp>
      <p:pic>
        <p:nvPicPr>
          <p:cNvPr id="9" name="Picture 8"/>
          <p:cNvPicPr>
            <a:picLocks noChangeAspect="1"/>
          </p:cNvPicPr>
          <p:nvPr/>
        </p:nvPicPr>
        <p:blipFill>
          <a:blip r:embed="rId3"/>
          <a:stretch>
            <a:fillRect/>
          </a:stretch>
        </p:blipFill>
        <p:spPr>
          <a:xfrm>
            <a:off x="10229576" y="6423091"/>
            <a:ext cx="1962424" cy="362001"/>
          </a:xfrm>
          <a:prstGeom prst="rect">
            <a:avLst/>
          </a:prstGeom>
        </p:spPr>
      </p:pic>
    </p:spTree>
    <p:extLst>
      <p:ext uri="{BB962C8B-B14F-4D97-AF65-F5344CB8AC3E}">
        <p14:creationId xmlns:p14="http://schemas.microsoft.com/office/powerpoint/2010/main" val="24125410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194098"/>
            <a:ext cx="4725492" cy="590649"/>
          </a:xfrm>
          <a:prstGeom prst="rect">
            <a:avLst/>
          </a:prstGeom>
          <a:noFill/>
          <a:ln/>
        </p:spPr>
        <p:txBody>
          <a:bodyPr wrap="none" lIns="0" tIns="0" rIns="0" bIns="0" rtlCol="0" anchor="t"/>
          <a:lstStyle/>
          <a:p>
            <a:pPr>
              <a:lnSpc>
                <a:spcPts val="4625"/>
              </a:lnSpc>
            </a:pPr>
            <a:r>
              <a:rPr lang="en-US" sz="3708" dirty="0">
                <a:solidFill>
                  <a:srgbClr val="FFFFFF"/>
                </a:solidFill>
                <a:latin typeface="Roboto" panose="020B0604020202020204" charset="0"/>
                <a:ea typeface="Roboto" panose="020B0604020202020204" charset="0"/>
                <a:cs typeface="Roboto Mono Medium" pitchFamily="34" charset="-120"/>
              </a:rPr>
              <a:t>PCA Overview</a:t>
            </a:r>
            <a:endParaRPr lang="en-US" sz="3708" dirty="0">
              <a:latin typeface="Roboto" panose="020B0604020202020204" charset="0"/>
              <a:ea typeface="Roboto" panose="020B0604020202020204" charset="0"/>
            </a:endParaRPr>
          </a:p>
        </p:txBody>
      </p:sp>
      <p:sp>
        <p:nvSpPr>
          <p:cNvPr id="3" name="Text 1"/>
          <p:cNvSpPr/>
          <p:nvPr/>
        </p:nvSpPr>
        <p:spPr>
          <a:xfrm>
            <a:off x="661492" y="2162770"/>
            <a:ext cx="10869018" cy="604838"/>
          </a:xfrm>
          <a:prstGeom prst="rect">
            <a:avLst/>
          </a:prstGeom>
          <a:noFill/>
          <a:ln/>
        </p:spPr>
        <p:txBody>
          <a:bodyPr wrap="square" lIns="0" tIns="0" rIns="0" bIns="0" rtlCol="0" anchor="t"/>
          <a:lstStyle/>
          <a:p>
            <a:pPr>
              <a:lnSpc>
                <a:spcPts val="2375"/>
              </a:lnSpc>
            </a:pPr>
            <a:r>
              <a:rPr lang="en-US" sz="1458" dirty="0">
                <a:solidFill>
                  <a:srgbClr val="E5E0DF"/>
                </a:solidFill>
                <a:latin typeface="Roboto" pitchFamily="34" charset="0"/>
                <a:ea typeface="Roboto" pitchFamily="34" charset="-122"/>
                <a:cs typeface="Roboto" pitchFamily="34" charset="-120"/>
              </a:rPr>
              <a:t>Principal Component Analysis (PCA) is a powerful dimensionality reduction technique that is critical for stabilizing our market regime identification.</a:t>
            </a:r>
            <a:endParaRPr lang="en-US" sz="1458" dirty="0"/>
          </a:p>
        </p:txBody>
      </p:sp>
      <p:sp>
        <p:nvSpPr>
          <p:cNvPr id="4" name="Text 2"/>
          <p:cNvSpPr/>
          <p:nvPr/>
        </p:nvSpPr>
        <p:spPr>
          <a:xfrm>
            <a:off x="661492" y="2980234"/>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Factor Extraction:</a:t>
            </a:r>
            <a:r>
              <a:rPr lang="en-US" sz="1458" dirty="0">
                <a:solidFill>
                  <a:srgbClr val="E5E0DF"/>
                </a:solidFill>
                <a:latin typeface="Roboto" pitchFamily="34" charset="0"/>
                <a:ea typeface="Roboto" pitchFamily="34" charset="-122"/>
                <a:cs typeface="Roboto" pitchFamily="34" charset="-120"/>
              </a:rPr>
              <a:t> PCA identifies the underlying major factors that drive price movements from a set of correlated indicators.</a:t>
            </a:r>
            <a:endParaRPr lang="en-US" sz="1458" dirty="0"/>
          </a:p>
        </p:txBody>
      </p:sp>
      <p:sp>
        <p:nvSpPr>
          <p:cNvPr id="5" name="Text 3"/>
          <p:cNvSpPr/>
          <p:nvPr/>
        </p:nvSpPr>
        <p:spPr>
          <a:xfrm>
            <a:off x="661492" y="3348732"/>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Decorrelation:</a:t>
            </a:r>
            <a:r>
              <a:rPr lang="en-US" sz="1458" dirty="0">
                <a:solidFill>
                  <a:srgbClr val="E5E0DF"/>
                </a:solidFill>
                <a:latin typeface="Roboto" pitchFamily="34" charset="0"/>
                <a:ea typeface="Roboto" pitchFamily="34" charset="-122"/>
                <a:cs typeface="Roboto" pitchFamily="34" charset="-120"/>
              </a:rPr>
              <a:t> It transforms correlated input features into a set of uncorrelated principal components, simplifying subsequent analysis.</a:t>
            </a:r>
            <a:endParaRPr lang="en-US" sz="1458" dirty="0"/>
          </a:p>
        </p:txBody>
      </p:sp>
      <p:sp>
        <p:nvSpPr>
          <p:cNvPr id="6" name="Text 4"/>
          <p:cNvSpPr/>
          <p:nvPr/>
        </p:nvSpPr>
        <p:spPr>
          <a:xfrm>
            <a:off x="661492" y="4019649"/>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Clustering Stability:</a:t>
            </a:r>
            <a:r>
              <a:rPr lang="en-US" sz="1458" dirty="0">
                <a:solidFill>
                  <a:srgbClr val="E5E0DF"/>
                </a:solidFill>
                <a:latin typeface="Roboto" pitchFamily="34" charset="0"/>
                <a:ea typeface="Roboto" pitchFamily="34" charset="-122"/>
                <a:cs typeface="Roboto" pitchFamily="34" charset="-120"/>
              </a:rPr>
              <a:t> By reducing noise and collinearity, PCA significantly improves the stability and interpretability of clustering algorithms like KMeans.</a:t>
            </a:r>
            <a:endParaRPr lang="en-US" sz="1458" dirty="0"/>
          </a:p>
        </p:txBody>
      </p:sp>
      <p:sp>
        <p:nvSpPr>
          <p:cNvPr id="7" name="Text 5"/>
          <p:cNvSpPr/>
          <p:nvPr/>
        </p:nvSpPr>
        <p:spPr>
          <a:xfrm>
            <a:off x="661492" y="4690567"/>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Overfitting Prevention:</a:t>
            </a:r>
            <a:r>
              <a:rPr lang="en-US" sz="1458" dirty="0">
                <a:solidFill>
                  <a:srgbClr val="E5E0DF"/>
                </a:solidFill>
                <a:latin typeface="Roboto" pitchFamily="34" charset="0"/>
                <a:ea typeface="Roboto" pitchFamily="34" charset="-122"/>
                <a:cs typeface="Roboto" pitchFamily="34" charset="-120"/>
              </a:rPr>
              <a:t> Reducing the number of dimensions helps prevent overfitting, especially with complex financial data.</a:t>
            </a:r>
            <a:endParaRPr lang="en-US" sz="1458" dirty="0"/>
          </a:p>
        </p:txBody>
      </p:sp>
      <p:sp>
        <p:nvSpPr>
          <p:cNvPr id="8" name="Text 6"/>
          <p:cNvSpPr/>
          <p:nvPr/>
        </p:nvSpPr>
        <p:spPr>
          <a:xfrm>
            <a:off x="661492" y="5059065"/>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Latent Trend:</a:t>
            </a:r>
            <a:r>
              <a:rPr lang="en-US" sz="1458" dirty="0">
                <a:solidFill>
                  <a:srgbClr val="E5E0DF"/>
                </a:solidFill>
                <a:latin typeface="Roboto" pitchFamily="34" charset="0"/>
                <a:ea typeface="Roboto" pitchFamily="34" charset="-122"/>
                <a:cs typeface="Roboto" pitchFamily="34" charset="-120"/>
              </a:rPr>
              <a:t> We utilize the first principal component, as it typically captures the strongest latent trend or primary source of variance in the market data.</a:t>
            </a:r>
            <a:endParaRPr lang="en-US" sz="1458" dirty="0"/>
          </a:p>
        </p:txBody>
      </p:sp>
      <p:pic>
        <p:nvPicPr>
          <p:cNvPr id="9" name="Picture 8"/>
          <p:cNvPicPr>
            <a:picLocks noChangeAspect="1"/>
          </p:cNvPicPr>
          <p:nvPr/>
        </p:nvPicPr>
        <p:blipFill>
          <a:blip r:embed="rId3"/>
          <a:stretch>
            <a:fillRect/>
          </a:stretch>
        </p:blipFill>
        <p:spPr>
          <a:xfrm>
            <a:off x="10110994" y="6432228"/>
            <a:ext cx="1962424" cy="362001"/>
          </a:xfrm>
          <a:prstGeom prst="rect">
            <a:avLst/>
          </a:prstGeom>
        </p:spPr>
      </p:pic>
    </p:spTree>
    <p:extLst>
      <p:ext uri="{BB962C8B-B14F-4D97-AF65-F5344CB8AC3E}">
        <p14:creationId xmlns:p14="http://schemas.microsoft.com/office/powerpoint/2010/main" val="7483550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042889"/>
            <a:ext cx="6804819" cy="590649"/>
          </a:xfrm>
          <a:prstGeom prst="rect">
            <a:avLst/>
          </a:prstGeom>
          <a:noFill/>
          <a:ln/>
        </p:spPr>
        <p:txBody>
          <a:bodyPr wrap="none" lIns="0" tIns="0" rIns="0" bIns="0" rtlCol="0" anchor="t"/>
          <a:lstStyle/>
          <a:p>
            <a:pPr>
              <a:lnSpc>
                <a:spcPts val="4625"/>
              </a:lnSpc>
            </a:pPr>
            <a:r>
              <a:rPr lang="en-US" sz="3708" dirty="0">
                <a:solidFill>
                  <a:srgbClr val="FFFFFF"/>
                </a:solidFill>
                <a:latin typeface="Roboto" panose="020B0604020202020204" charset="0"/>
                <a:ea typeface="Roboto" panose="020B0604020202020204" charset="0"/>
                <a:cs typeface="Roboto Mono Medium" pitchFamily="34" charset="-120"/>
              </a:rPr>
              <a:t>KMeans Regime Clustering</a:t>
            </a:r>
            <a:endParaRPr lang="en-US" sz="3708" dirty="0">
              <a:latin typeface="Roboto" panose="020B0604020202020204" charset="0"/>
              <a:ea typeface="Roboto" panose="020B0604020202020204" charset="0"/>
            </a:endParaRPr>
          </a:p>
        </p:txBody>
      </p:sp>
      <p:sp>
        <p:nvSpPr>
          <p:cNvPr id="3" name="Text 1"/>
          <p:cNvSpPr/>
          <p:nvPr/>
        </p:nvSpPr>
        <p:spPr>
          <a:xfrm>
            <a:off x="661492" y="2011561"/>
            <a:ext cx="10869018" cy="604838"/>
          </a:xfrm>
          <a:prstGeom prst="rect">
            <a:avLst/>
          </a:prstGeom>
          <a:noFill/>
          <a:ln/>
        </p:spPr>
        <p:txBody>
          <a:bodyPr wrap="square" lIns="0" tIns="0" rIns="0" bIns="0" rtlCol="0" anchor="t"/>
          <a:lstStyle/>
          <a:p>
            <a:pPr>
              <a:lnSpc>
                <a:spcPts val="2375"/>
              </a:lnSpc>
            </a:pPr>
            <a:r>
              <a:rPr lang="en-US" sz="1458" dirty="0">
                <a:solidFill>
                  <a:srgbClr val="E5E0DF"/>
                </a:solidFill>
                <a:latin typeface="Roboto" pitchFamily="34" charset="0"/>
                <a:ea typeface="Roboto" pitchFamily="34" charset="-122"/>
                <a:cs typeface="Roboto" pitchFamily="34" charset="-120"/>
              </a:rPr>
              <a:t>KMeans clustering is applied to the PCA-reduced data to segment market conditions into distinct, actionable regimes. This allows for dynamic adaptation of trading logic based on the identified market state.</a:t>
            </a:r>
            <a:endParaRPr lang="en-US" sz="1458" dirty="0"/>
          </a:p>
        </p:txBody>
      </p:sp>
      <p:sp>
        <p:nvSpPr>
          <p:cNvPr id="4" name="Text 2"/>
          <p:cNvSpPr/>
          <p:nvPr/>
        </p:nvSpPr>
        <p:spPr>
          <a:xfrm>
            <a:off x="661492" y="2829025"/>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Market State Identification:</a:t>
            </a:r>
            <a:r>
              <a:rPr lang="en-US" sz="1458" dirty="0">
                <a:solidFill>
                  <a:srgbClr val="E5E0DF"/>
                </a:solidFill>
                <a:latin typeface="Roboto" pitchFamily="34" charset="0"/>
                <a:ea typeface="Roboto" pitchFamily="34" charset="-122"/>
                <a:cs typeface="Roboto" pitchFamily="34" charset="-120"/>
              </a:rPr>
              <a:t> Clusters the PCA outputs into interpretable market states, such as bullish, bearish, or neutral.</a:t>
            </a:r>
            <a:endParaRPr lang="en-US" sz="1458" dirty="0"/>
          </a:p>
        </p:txBody>
      </p:sp>
      <p:sp>
        <p:nvSpPr>
          <p:cNvPr id="5" name="Text 3"/>
          <p:cNvSpPr/>
          <p:nvPr/>
        </p:nvSpPr>
        <p:spPr>
          <a:xfrm>
            <a:off x="661492" y="3197523"/>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Dynamic Adaptation:</a:t>
            </a:r>
            <a:r>
              <a:rPr lang="en-US" sz="1458" dirty="0">
                <a:solidFill>
                  <a:srgbClr val="E5E0DF"/>
                </a:solidFill>
                <a:latin typeface="Roboto" pitchFamily="34" charset="0"/>
                <a:ea typeface="Roboto" pitchFamily="34" charset="-122"/>
                <a:cs typeface="Roboto" pitchFamily="34" charset="-120"/>
              </a:rPr>
              <a:t> The clustering is continuously updated with each rolling training window, allowing the strategy to adapt to evolving market structures.</a:t>
            </a:r>
            <a:endParaRPr lang="en-US" sz="1458" dirty="0"/>
          </a:p>
        </p:txBody>
      </p:sp>
      <p:sp>
        <p:nvSpPr>
          <p:cNvPr id="6" name="Text 4"/>
          <p:cNvSpPr/>
          <p:nvPr/>
        </p:nvSpPr>
        <p:spPr>
          <a:xfrm>
            <a:off x="661492" y="3868440"/>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K=3:</a:t>
            </a:r>
            <a:r>
              <a:rPr lang="en-US" sz="1458" dirty="0">
                <a:solidFill>
                  <a:srgbClr val="E5E0DF"/>
                </a:solidFill>
                <a:latin typeface="Roboto" pitchFamily="34" charset="0"/>
                <a:ea typeface="Roboto" pitchFamily="34" charset="-122"/>
                <a:cs typeface="Roboto" pitchFamily="34" charset="-120"/>
              </a:rPr>
              <a:t> We empirically chose three clusters to represent the most fundamental market phases: upward trending, downward trending, and sideways/consolidating.</a:t>
            </a:r>
            <a:endParaRPr lang="en-US" sz="1458" dirty="0"/>
          </a:p>
        </p:txBody>
      </p:sp>
      <p:sp>
        <p:nvSpPr>
          <p:cNvPr id="7" name="Text 5"/>
          <p:cNvSpPr/>
          <p:nvPr/>
        </p:nvSpPr>
        <p:spPr>
          <a:xfrm>
            <a:off x="661492" y="4539357"/>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Regime-Driven Logic:</a:t>
            </a:r>
            <a:r>
              <a:rPr lang="en-US" sz="1458" dirty="0">
                <a:solidFill>
                  <a:srgbClr val="E5E0DF"/>
                </a:solidFill>
                <a:latin typeface="Roboto" pitchFamily="34" charset="0"/>
                <a:ea typeface="Roboto" pitchFamily="34" charset="-122"/>
                <a:cs typeface="Roboto" pitchFamily="34" charset="-120"/>
              </a:rPr>
              <a:t> This forms the basis for developing regime-dependent trading rules, optimizing performance by aligning with current market behavior.</a:t>
            </a:r>
            <a:endParaRPr lang="en-US" sz="1458" dirty="0"/>
          </a:p>
        </p:txBody>
      </p:sp>
      <p:sp>
        <p:nvSpPr>
          <p:cNvPr id="8" name="Text 6"/>
          <p:cNvSpPr/>
          <p:nvPr/>
        </p:nvSpPr>
        <p:spPr>
          <a:xfrm>
            <a:off x="661492" y="5210274"/>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Enhanced Decision-Making:</a:t>
            </a:r>
            <a:r>
              <a:rPr lang="en-US" sz="1458" dirty="0">
                <a:solidFill>
                  <a:srgbClr val="E5E0DF"/>
                </a:solidFill>
                <a:latin typeface="Roboto" pitchFamily="34" charset="0"/>
                <a:ea typeface="Roboto" pitchFamily="34" charset="-122"/>
                <a:cs typeface="Roboto" pitchFamily="34" charset="-120"/>
              </a:rPr>
              <a:t> By simplifying complex market conditions into discrete regimes, the model reduces noise and clarifies trade decision-making processes.</a:t>
            </a:r>
            <a:endParaRPr lang="en-US" sz="1458" dirty="0"/>
          </a:p>
        </p:txBody>
      </p:sp>
      <p:pic>
        <p:nvPicPr>
          <p:cNvPr id="9" name="Picture 8"/>
          <p:cNvPicPr>
            <a:picLocks noChangeAspect="1"/>
          </p:cNvPicPr>
          <p:nvPr/>
        </p:nvPicPr>
        <p:blipFill>
          <a:blip r:embed="rId3"/>
          <a:stretch>
            <a:fillRect/>
          </a:stretch>
        </p:blipFill>
        <p:spPr>
          <a:xfrm>
            <a:off x="10129848" y="6401731"/>
            <a:ext cx="1962424" cy="362001"/>
          </a:xfrm>
          <a:prstGeom prst="rect">
            <a:avLst/>
          </a:prstGeom>
        </p:spPr>
      </p:pic>
    </p:spTree>
    <p:extLst>
      <p:ext uri="{BB962C8B-B14F-4D97-AF65-F5344CB8AC3E}">
        <p14:creationId xmlns:p14="http://schemas.microsoft.com/office/powerpoint/2010/main" val="32832413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040656"/>
            <a:ext cx="4422775" cy="383977"/>
          </a:xfrm>
          <a:prstGeom prst="rect">
            <a:avLst/>
          </a:prstGeom>
          <a:noFill/>
          <a:ln/>
        </p:spPr>
        <p:txBody>
          <a:bodyPr wrap="none" lIns="0" tIns="0" rIns="0" bIns="0" rtlCol="0" anchor="t"/>
          <a:lstStyle/>
          <a:p>
            <a:pPr>
              <a:lnSpc>
                <a:spcPts val="3000"/>
              </a:lnSpc>
            </a:pPr>
            <a:r>
              <a:rPr lang="en-US" sz="3710" dirty="0">
                <a:solidFill>
                  <a:srgbClr val="FFFFFF"/>
                </a:solidFill>
                <a:latin typeface="Roboto" panose="020B0604020202020204" charset="0"/>
                <a:ea typeface="Roboto" panose="020B0604020202020204" charset="0"/>
                <a:cs typeface="Roboto Mono Medium" pitchFamily="34" charset="-120"/>
              </a:rPr>
              <a:t>PCA–KMeans Trading Logic</a:t>
            </a:r>
            <a:endParaRPr lang="en-US" sz="3710" dirty="0">
              <a:latin typeface="Roboto" panose="020B0604020202020204" charset="0"/>
              <a:ea typeface="Roboto" panose="020B0604020202020204" charset="0"/>
            </a:endParaRPr>
          </a:p>
        </p:txBody>
      </p:sp>
      <p:pic>
        <p:nvPicPr>
          <p:cNvPr id="3" name="Image 0" descr="preencoded.png"/>
          <p:cNvPicPr>
            <a:picLocks noChangeAspect="1"/>
          </p:cNvPicPr>
          <p:nvPr/>
        </p:nvPicPr>
        <p:blipFill>
          <a:blip r:embed="rId3"/>
          <a:stretch>
            <a:fillRect/>
          </a:stretch>
        </p:blipFill>
        <p:spPr>
          <a:xfrm>
            <a:off x="661492" y="2055010"/>
            <a:ext cx="368498" cy="952500"/>
          </a:xfrm>
          <a:prstGeom prst="rect">
            <a:avLst/>
          </a:prstGeom>
        </p:spPr>
      </p:pic>
      <p:sp>
        <p:nvSpPr>
          <p:cNvPr id="4" name="Text 1"/>
          <p:cNvSpPr/>
          <p:nvPr/>
        </p:nvSpPr>
        <p:spPr>
          <a:xfrm>
            <a:off x="1152823" y="2177843"/>
            <a:ext cx="2210693" cy="191988"/>
          </a:xfrm>
          <a:prstGeom prst="rect">
            <a:avLst/>
          </a:prstGeom>
          <a:noFill/>
          <a:ln/>
        </p:spPr>
        <p:txBody>
          <a:bodyPr wrap="none" lIns="0" tIns="0" rIns="0" bIns="0" rtlCol="0" anchor="t"/>
          <a:lstStyle/>
          <a:p>
            <a:pPr>
              <a:lnSpc>
                <a:spcPts val="1500"/>
              </a:lnSpc>
            </a:pPr>
            <a:r>
              <a:rPr lang="en-US" sz="1208" dirty="0">
                <a:solidFill>
                  <a:srgbClr val="E5E0DF"/>
                </a:solidFill>
                <a:latin typeface="Roboto" panose="020B0604020202020204" charset="0"/>
                <a:ea typeface="Roboto" panose="020B0604020202020204" charset="0"/>
                <a:cs typeface="Roboto Mono Medium" pitchFamily="34" charset="-120"/>
              </a:rPr>
              <a:t>Prepare Rolling Features</a:t>
            </a:r>
            <a:endParaRPr lang="en-US" sz="1208" dirty="0">
              <a:latin typeface="Roboto" panose="020B0604020202020204" charset="0"/>
              <a:ea typeface="Roboto" panose="020B0604020202020204" charset="0"/>
            </a:endParaRPr>
          </a:p>
        </p:txBody>
      </p:sp>
      <p:sp>
        <p:nvSpPr>
          <p:cNvPr id="5" name="Text 2"/>
          <p:cNvSpPr/>
          <p:nvPr/>
        </p:nvSpPr>
        <p:spPr>
          <a:xfrm>
            <a:off x="1152823" y="2441227"/>
            <a:ext cx="10377686" cy="196453"/>
          </a:xfrm>
          <a:prstGeom prst="rect">
            <a:avLst/>
          </a:prstGeom>
          <a:noFill/>
          <a:ln/>
        </p:spPr>
        <p:txBody>
          <a:bodyPr wrap="none" lIns="0" tIns="0" rIns="0" bIns="0" rtlCol="0" anchor="t"/>
          <a:lstStyle/>
          <a:p>
            <a:pPr>
              <a:lnSpc>
                <a:spcPts val="1542"/>
              </a:lnSpc>
            </a:pPr>
            <a:r>
              <a:rPr lang="en-US" sz="958" dirty="0">
                <a:solidFill>
                  <a:srgbClr val="E5E0DF"/>
                </a:solidFill>
                <a:latin typeface="Roboto" pitchFamily="34" charset="0"/>
                <a:ea typeface="Roboto" pitchFamily="34" charset="-122"/>
                <a:cs typeface="Roboto" pitchFamily="34" charset="-120"/>
              </a:rPr>
              <a:t>Generate a 120-period rolling window of engineered features for current market context.</a:t>
            </a:r>
            <a:endParaRPr lang="en-US" sz="958" dirty="0"/>
          </a:p>
        </p:txBody>
      </p:sp>
      <p:pic>
        <p:nvPicPr>
          <p:cNvPr id="6" name="Image 1" descr="preencoded.png"/>
          <p:cNvPicPr>
            <a:picLocks noChangeAspect="1"/>
          </p:cNvPicPr>
          <p:nvPr/>
        </p:nvPicPr>
        <p:blipFill>
          <a:blip r:embed="rId3"/>
          <a:stretch>
            <a:fillRect/>
          </a:stretch>
        </p:blipFill>
        <p:spPr>
          <a:xfrm>
            <a:off x="845741" y="2914939"/>
            <a:ext cx="368498" cy="952500"/>
          </a:xfrm>
          <a:prstGeom prst="rect">
            <a:avLst/>
          </a:prstGeom>
        </p:spPr>
      </p:pic>
      <p:sp>
        <p:nvSpPr>
          <p:cNvPr id="7" name="Text 3"/>
          <p:cNvSpPr/>
          <p:nvPr/>
        </p:nvSpPr>
        <p:spPr>
          <a:xfrm>
            <a:off x="1337072" y="3037772"/>
            <a:ext cx="1750119" cy="191988"/>
          </a:xfrm>
          <a:prstGeom prst="rect">
            <a:avLst/>
          </a:prstGeom>
          <a:noFill/>
          <a:ln/>
        </p:spPr>
        <p:txBody>
          <a:bodyPr wrap="none" lIns="0" tIns="0" rIns="0" bIns="0" rtlCol="0" anchor="t"/>
          <a:lstStyle/>
          <a:p>
            <a:pPr>
              <a:lnSpc>
                <a:spcPts val="1500"/>
              </a:lnSpc>
            </a:pPr>
            <a:r>
              <a:rPr lang="en-US" sz="1208" dirty="0">
                <a:solidFill>
                  <a:srgbClr val="E5E0DF"/>
                </a:solidFill>
                <a:latin typeface="Roboto" panose="020B0604020202020204" charset="0"/>
                <a:ea typeface="Roboto" panose="020B0604020202020204" charset="0"/>
                <a:cs typeface="Roboto Mono Medium" pitchFamily="34" charset="-120"/>
              </a:rPr>
              <a:t>Apply PCA Reduction</a:t>
            </a:r>
            <a:endParaRPr lang="en-US" sz="1208" dirty="0">
              <a:latin typeface="Roboto" panose="020B0604020202020204" charset="0"/>
              <a:ea typeface="Roboto" panose="020B0604020202020204" charset="0"/>
            </a:endParaRPr>
          </a:p>
        </p:txBody>
      </p:sp>
      <p:sp>
        <p:nvSpPr>
          <p:cNvPr id="8" name="Text 4"/>
          <p:cNvSpPr/>
          <p:nvPr/>
        </p:nvSpPr>
        <p:spPr>
          <a:xfrm>
            <a:off x="1337072" y="3292962"/>
            <a:ext cx="10193437" cy="196453"/>
          </a:xfrm>
          <a:prstGeom prst="rect">
            <a:avLst/>
          </a:prstGeom>
          <a:noFill/>
          <a:ln/>
        </p:spPr>
        <p:txBody>
          <a:bodyPr wrap="none" lIns="0" tIns="0" rIns="0" bIns="0" rtlCol="0" anchor="t"/>
          <a:lstStyle/>
          <a:p>
            <a:pPr>
              <a:lnSpc>
                <a:spcPts val="1542"/>
              </a:lnSpc>
            </a:pPr>
            <a:r>
              <a:rPr lang="en-US" sz="958" dirty="0">
                <a:solidFill>
                  <a:srgbClr val="E5E0DF"/>
                </a:solidFill>
                <a:latin typeface="Roboto" pitchFamily="34" charset="0"/>
                <a:ea typeface="Roboto" pitchFamily="34" charset="-122"/>
                <a:cs typeface="Roboto" pitchFamily="34" charset="-120"/>
              </a:rPr>
              <a:t>Reduce feature dimensionality to the single most significant principal component.</a:t>
            </a:r>
            <a:endParaRPr lang="en-US" sz="958" dirty="0"/>
          </a:p>
        </p:txBody>
      </p:sp>
      <p:pic>
        <p:nvPicPr>
          <p:cNvPr id="9" name="Image 2" descr="preencoded.png"/>
          <p:cNvPicPr>
            <a:picLocks noChangeAspect="1"/>
          </p:cNvPicPr>
          <p:nvPr/>
        </p:nvPicPr>
        <p:blipFill>
          <a:blip r:embed="rId3"/>
          <a:stretch>
            <a:fillRect/>
          </a:stretch>
        </p:blipFill>
        <p:spPr>
          <a:xfrm>
            <a:off x="1029990" y="3774867"/>
            <a:ext cx="368498" cy="952500"/>
          </a:xfrm>
          <a:prstGeom prst="rect">
            <a:avLst/>
          </a:prstGeom>
        </p:spPr>
      </p:pic>
      <p:sp>
        <p:nvSpPr>
          <p:cNvPr id="10" name="Text 5"/>
          <p:cNvSpPr/>
          <p:nvPr/>
        </p:nvSpPr>
        <p:spPr>
          <a:xfrm>
            <a:off x="1521321" y="3897701"/>
            <a:ext cx="1934369" cy="191988"/>
          </a:xfrm>
          <a:prstGeom prst="rect">
            <a:avLst/>
          </a:prstGeom>
          <a:noFill/>
          <a:ln/>
        </p:spPr>
        <p:txBody>
          <a:bodyPr wrap="none" lIns="0" tIns="0" rIns="0" bIns="0" rtlCol="0" anchor="t"/>
          <a:lstStyle/>
          <a:p>
            <a:pPr>
              <a:lnSpc>
                <a:spcPts val="1500"/>
              </a:lnSpc>
            </a:pPr>
            <a:r>
              <a:rPr lang="en-US" sz="1208" dirty="0">
                <a:solidFill>
                  <a:srgbClr val="E5E0DF"/>
                </a:solidFill>
                <a:latin typeface="Roboto" panose="020B0604020202020204" charset="0"/>
                <a:ea typeface="Roboto" panose="020B0604020202020204" charset="0"/>
                <a:cs typeface="Roboto Mono Medium" pitchFamily="34" charset="-120"/>
              </a:rPr>
              <a:t>Fit KMeans Clustering</a:t>
            </a:r>
            <a:endParaRPr lang="en-US" sz="1208" dirty="0">
              <a:latin typeface="Roboto" panose="020B0604020202020204" charset="0"/>
              <a:ea typeface="Roboto" panose="020B0604020202020204" charset="0"/>
            </a:endParaRPr>
          </a:p>
        </p:txBody>
      </p:sp>
      <p:sp>
        <p:nvSpPr>
          <p:cNvPr id="11" name="Text 6"/>
          <p:cNvSpPr/>
          <p:nvPr/>
        </p:nvSpPr>
        <p:spPr>
          <a:xfrm>
            <a:off x="1521321" y="4161085"/>
            <a:ext cx="10009188" cy="196453"/>
          </a:xfrm>
          <a:prstGeom prst="rect">
            <a:avLst/>
          </a:prstGeom>
          <a:noFill/>
          <a:ln/>
        </p:spPr>
        <p:txBody>
          <a:bodyPr wrap="none" lIns="0" tIns="0" rIns="0" bIns="0" rtlCol="0" anchor="t"/>
          <a:lstStyle/>
          <a:p>
            <a:pPr>
              <a:lnSpc>
                <a:spcPts val="1542"/>
              </a:lnSpc>
            </a:pPr>
            <a:r>
              <a:rPr lang="en-US" sz="958" dirty="0">
                <a:solidFill>
                  <a:srgbClr val="E5E0DF"/>
                </a:solidFill>
                <a:latin typeface="Roboto" pitchFamily="34" charset="0"/>
                <a:ea typeface="Roboto" pitchFamily="34" charset="-122"/>
                <a:cs typeface="Roboto" pitchFamily="34" charset="-120"/>
              </a:rPr>
              <a:t>Train a KMeans model to identify 3 distinct market regimes (bullish, bearish, neutral).</a:t>
            </a:r>
            <a:endParaRPr lang="en-US" sz="958" dirty="0"/>
          </a:p>
        </p:txBody>
      </p:sp>
      <p:pic>
        <p:nvPicPr>
          <p:cNvPr id="12" name="Image 3" descr="preencoded.png"/>
          <p:cNvPicPr>
            <a:picLocks noChangeAspect="1"/>
          </p:cNvPicPr>
          <p:nvPr/>
        </p:nvPicPr>
        <p:blipFill>
          <a:blip r:embed="rId3"/>
          <a:stretch>
            <a:fillRect/>
          </a:stretch>
        </p:blipFill>
        <p:spPr>
          <a:xfrm>
            <a:off x="1214339" y="4634797"/>
            <a:ext cx="368498" cy="952500"/>
          </a:xfrm>
          <a:prstGeom prst="rect">
            <a:avLst/>
          </a:prstGeom>
        </p:spPr>
      </p:pic>
      <p:sp>
        <p:nvSpPr>
          <p:cNvPr id="13" name="Text 7"/>
          <p:cNvSpPr/>
          <p:nvPr/>
        </p:nvSpPr>
        <p:spPr>
          <a:xfrm>
            <a:off x="1705670" y="4757629"/>
            <a:ext cx="2026444" cy="191988"/>
          </a:xfrm>
          <a:prstGeom prst="rect">
            <a:avLst/>
          </a:prstGeom>
          <a:noFill/>
          <a:ln/>
        </p:spPr>
        <p:txBody>
          <a:bodyPr wrap="none" lIns="0" tIns="0" rIns="0" bIns="0" rtlCol="0" anchor="t"/>
          <a:lstStyle/>
          <a:p>
            <a:pPr>
              <a:lnSpc>
                <a:spcPts val="1500"/>
              </a:lnSpc>
            </a:pPr>
            <a:r>
              <a:rPr lang="en-US" sz="1208" dirty="0">
                <a:solidFill>
                  <a:srgbClr val="E5E0DF"/>
                </a:solidFill>
                <a:latin typeface="Roboto" panose="020B0604020202020204" charset="0"/>
                <a:ea typeface="Roboto" panose="020B0604020202020204" charset="0"/>
                <a:cs typeface="Roboto Mono Medium" pitchFamily="34" charset="-120"/>
              </a:rPr>
              <a:t>Predict Current Regime</a:t>
            </a:r>
            <a:endParaRPr lang="en-US" sz="1208" dirty="0">
              <a:latin typeface="Roboto" panose="020B0604020202020204" charset="0"/>
              <a:ea typeface="Roboto" panose="020B0604020202020204" charset="0"/>
            </a:endParaRPr>
          </a:p>
        </p:txBody>
      </p:sp>
      <p:sp>
        <p:nvSpPr>
          <p:cNvPr id="14" name="Text 8"/>
          <p:cNvSpPr/>
          <p:nvPr/>
        </p:nvSpPr>
        <p:spPr>
          <a:xfrm>
            <a:off x="1705670" y="5012820"/>
            <a:ext cx="9824839" cy="196453"/>
          </a:xfrm>
          <a:prstGeom prst="rect">
            <a:avLst/>
          </a:prstGeom>
          <a:noFill/>
          <a:ln/>
        </p:spPr>
        <p:txBody>
          <a:bodyPr wrap="none" lIns="0" tIns="0" rIns="0" bIns="0" rtlCol="0" anchor="t"/>
          <a:lstStyle/>
          <a:p>
            <a:pPr>
              <a:lnSpc>
                <a:spcPts val="1542"/>
              </a:lnSpc>
            </a:pPr>
            <a:r>
              <a:rPr lang="en-US" sz="958" dirty="0">
                <a:solidFill>
                  <a:srgbClr val="E5E0DF"/>
                </a:solidFill>
                <a:latin typeface="Roboto" pitchFamily="34" charset="0"/>
                <a:ea typeface="Roboto" pitchFamily="34" charset="-122"/>
                <a:cs typeface="Roboto" pitchFamily="34" charset="-120"/>
              </a:rPr>
              <a:t>Classify the current market state into one of the three learned regimes.</a:t>
            </a:r>
            <a:endParaRPr lang="en-US" sz="958" dirty="0"/>
          </a:p>
        </p:txBody>
      </p:sp>
      <p:pic>
        <p:nvPicPr>
          <p:cNvPr id="15" name="Image 4" descr="preencoded.png"/>
          <p:cNvPicPr>
            <a:picLocks noChangeAspect="1"/>
          </p:cNvPicPr>
          <p:nvPr/>
        </p:nvPicPr>
        <p:blipFill>
          <a:blip r:embed="rId3"/>
          <a:stretch>
            <a:fillRect/>
          </a:stretch>
        </p:blipFill>
        <p:spPr>
          <a:xfrm>
            <a:off x="1029990" y="5494726"/>
            <a:ext cx="368498" cy="952500"/>
          </a:xfrm>
          <a:prstGeom prst="rect">
            <a:avLst/>
          </a:prstGeom>
        </p:spPr>
      </p:pic>
      <p:sp>
        <p:nvSpPr>
          <p:cNvPr id="16" name="Text 9"/>
          <p:cNvSpPr/>
          <p:nvPr/>
        </p:nvSpPr>
        <p:spPr>
          <a:xfrm>
            <a:off x="1521321" y="5617558"/>
            <a:ext cx="2026444" cy="191988"/>
          </a:xfrm>
          <a:prstGeom prst="rect">
            <a:avLst/>
          </a:prstGeom>
          <a:noFill/>
          <a:ln/>
        </p:spPr>
        <p:txBody>
          <a:bodyPr wrap="none" lIns="0" tIns="0" rIns="0" bIns="0" rtlCol="0" anchor="t"/>
          <a:lstStyle/>
          <a:p>
            <a:pPr>
              <a:lnSpc>
                <a:spcPts val="1500"/>
              </a:lnSpc>
            </a:pPr>
            <a:r>
              <a:rPr lang="en-US" sz="1208" dirty="0">
                <a:solidFill>
                  <a:srgbClr val="E5E0DF"/>
                </a:solidFill>
                <a:latin typeface="Roboto" panose="020B0604020202020204" charset="0"/>
                <a:ea typeface="Roboto" panose="020B0604020202020204" charset="0"/>
                <a:cs typeface="Roboto Mono Medium" pitchFamily="34" charset="-120"/>
              </a:rPr>
              <a:t>Map Regime to Position</a:t>
            </a:r>
            <a:endParaRPr lang="en-US" sz="1208" dirty="0">
              <a:latin typeface="Roboto" panose="020B0604020202020204" charset="0"/>
              <a:ea typeface="Roboto" panose="020B0604020202020204" charset="0"/>
            </a:endParaRPr>
          </a:p>
        </p:txBody>
      </p:sp>
      <p:sp>
        <p:nvSpPr>
          <p:cNvPr id="17" name="Text 10"/>
          <p:cNvSpPr/>
          <p:nvPr/>
        </p:nvSpPr>
        <p:spPr>
          <a:xfrm>
            <a:off x="1521321" y="5920526"/>
            <a:ext cx="10009188" cy="196453"/>
          </a:xfrm>
          <a:prstGeom prst="rect">
            <a:avLst/>
          </a:prstGeom>
          <a:noFill/>
          <a:ln/>
        </p:spPr>
        <p:txBody>
          <a:bodyPr wrap="none" lIns="0" tIns="0" rIns="0" bIns="0" rtlCol="0" anchor="t"/>
          <a:lstStyle/>
          <a:p>
            <a:pPr>
              <a:lnSpc>
                <a:spcPts val="1542"/>
              </a:lnSpc>
            </a:pPr>
            <a:r>
              <a:rPr lang="en-US" sz="958" dirty="0">
                <a:solidFill>
                  <a:srgbClr val="E5E0DF"/>
                </a:solidFill>
                <a:latin typeface="Roboto" pitchFamily="34" charset="0"/>
                <a:ea typeface="Roboto" pitchFamily="34" charset="-122"/>
                <a:cs typeface="Roboto" pitchFamily="34" charset="-120"/>
              </a:rPr>
              <a:t>Translate the identified market regime into a long, short, or neutral trading position.</a:t>
            </a:r>
            <a:endParaRPr lang="en-US" sz="958" dirty="0"/>
          </a:p>
        </p:txBody>
      </p:sp>
      <p:pic>
        <p:nvPicPr>
          <p:cNvPr id="21" name="Picture 20"/>
          <p:cNvPicPr>
            <a:picLocks noChangeAspect="1"/>
          </p:cNvPicPr>
          <p:nvPr/>
        </p:nvPicPr>
        <p:blipFill>
          <a:blip r:embed="rId4"/>
          <a:stretch>
            <a:fillRect/>
          </a:stretch>
        </p:blipFill>
        <p:spPr>
          <a:xfrm>
            <a:off x="10120421" y="6447226"/>
            <a:ext cx="1962424" cy="362001"/>
          </a:xfrm>
          <a:prstGeom prst="rect">
            <a:avLst/>
          </a:prstGeom>
        </p:spPr>
      </p:pic>
    </p:spTree>
    <p:extLst>
      <p:ext uri="{BB962C8B-B14F-4D97-AF65-F5344CB8AC3E}">
        <p14:creationId xmlns:p14="http://schemas.microsoft.com/office/powerpoint/2010/main" val="33422979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707431"/>
            <a:ext cx="7655421" cy="590649"/>
          </a:xfrm>
          <a:prstGeom prst="rect">
            <a:avLst/>
          </a:prstGeom>
          <a:noFill/>
          <a:ln/>
        </p:spPr>
        <p:txBody>
          <a:bodyPr wrap="none" lIns="0" tIns="0" rIns="0" bIns="0" rtlCol="0" anchor="t"/>
          <a:lstStyle/>
          <a:p>
            <a:pPr>
              <a:lnSpc>
                <a:spcPts val="4625"/>
              </a:lnSpc>
            </a:pPr>
            <a:r>
              <a:rPr lang="en-US" sz="3708" dirty="0">
                <a:solidFill>
                  <a:srgbClr val="FFFFFF"/>
                </a:solidFill>
                <a:latin typeface="Roboto" panose="020B0604020202020204" charset="0"/>
                <a:ea typeface="Roboto" panose="020B0604020202020204" charset="0"/>
                <a:cs typeface="Roboto Mono Medium" pitchFamily="34" charset="-120"/>
              </a:rPr>
              <a:t>Random Forest Bagging Model</a:t>
            </a:r>
            <a:endParaRPr lang="en-US" sz="3708" dirty="0">
              <a:latin typeface="Roboto" panose="020B0604020202020204" charset="0"/>
              <a:ea typeface="Roboto" panose="020B0604020202020204" charset="0"/>
            </a:endParaRPr>
          </a:p>
        </p:txBody>
      </p:sp>
      <p:sp>
        <p:nvSpPr>
          <p:cNvPr id="3" name="Text 1"/>
          <p:cNvSpPr/>
          <p:nvPr/>
        </p:nvSpPr>
        <p:spPr>
          <a:xfrm>
            <a:off x="661492" y="1676102"/>
            <a:ext cx="10869018" cy="907257"/>
          </a:xfrm>
          <a:prstGeom prst="rect">
            <a:avLst/>
          </a:prstGeom>
          <a:noFill/>
          <a:ln/>
        </p:spPr>
        <p:txBody>
          <a:bodyPr wrap="square" lIns="0" tIns="0" rIns="0" bIns="0" rtlCol="0" anchor="t"/>
          <a:lstStyle/>
          <a:p>
            <a:pPr>
              <a:lnSpc>
                <a:spcPts val="2375"/>
              </a:lnSpc>
            </a:pPr>
            <a:r>
              <a:rPr lang="en-US" sz="1458" dirty="0">
                <a:solidFill>
                  <a:srgbClr val="E5E0DF"/>
                </a:solidFill>
                <a:latin typeface="Roboto" pitchFamily="34" charset="0"/>
                <a:ea typeface="Roboto" pitchFamily="34" charset="-122"/>
                <a:cs typeface="Roboto" pitchFamily="34" charset="-120"/>
              </a:rPr>
              <a:t>The Random Forest bagging model serves as a robust supervised learning component, providing directional predictions that complement the regime-based approach. Its ensemble nature makes it highly resilient to market noise and non-linear relationships.</a:t>
            </a:r>
            <a:endParaRPr lang="en-US" sz="1458" dirty="0"/>
          </a:p>
        </p:txBody>
      </p:sp>
      <p:sp>
        <p:nvSpPr>
          <p:cNvPr id="4" name="Text 2"/>
          <p:cNvSpPr/>
          <p:nvPr/>
        </p:nvSpPr>
        <p:spPr>
          <a:xfrm>
            <a:off x="661492" y="2795984"/>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Ensemble Power:</a:t>
            </a:r>
            <a:r>
              <a:rPr lang="en-US" sz="1458" dirty="0">
                <a:solidFill>
                  <a:srgbClr val="E5E0DF"/>
                </a:solidFill>
                <a:latin typeface="Roboto" pitchFamily="34" charset="0"/>
                <a:ea typeface="Roboto" pitchFamily="34" charset="-122"/>
                <a:cs typeface="Roboto" pitchFamily="34" charset="-120"/>
              </a:rPr>
              <a:t> Composed of 200 decision trees, this ensemble model mitigates overfitting and enhances predictive stability by averaging predictions.</a:t>
            </a:r>
            <a:endParaRPr lang="en-US" sz="1458" dirty="0"/>
          </a:p>
        </p:txBody>
      </p:sp>
      <p:sp>
        <p:nvSpPr>
          <p:cNvPr id="5" name="Text 3"/>
          <p:cNvSpPr/>
          <p:nvPr/>
        </p:nvSpPr>
        <p:spPr>
          <a:xfrm>
            <a:off x="661492" y="3466902"/>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Non-linear Patterns:</a:t>
            </a:r>
            <a:r>
              <a:rPr lang="en-US" sz="1458" dirty="0">
                <a:solidFill>
                  <a:srgbClr val="E5E0DF"/>
                </a:solidFill>
                <a:latin typeface="Roboto" pitchFamily="34" charset="0"/>
                <a:ea typeface="Roboto" pitchFamily="34" charset="-122"/>
                <a:cs typeface="Roboto" pitchFamily="34" charset="-120"/>
              </a:rPr>
              <a:t> Excels at capturing complex, non-linear relationships within financial data, which simpler models often miss.</a:t>
            </a:r>
            <a:endParaRPr lang="en-US" sz="1458" dirty="0"/>
          </a:p>
        </p:txBody>
      </p:sp>
      <p:sp>
        <p:nvSpPr>
          <p:cNvPr id="6" name="Text 4"/>
          <p:cNvSpPr/>
          <p:nvPr/>
        </p:nvSpPr>
        <p:spPr>
          <a:xfrm>
            <a:off x="661492" y="3934335"/>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Noise Robustness:</a:t>
            </a:r>
            <a:r>
              <a:rPr lang="en-US" sz="1458" dirty="0">
                <a:solidFill>
                  <a:srgbClr val="E5E0DF"/>
                </a:solidFill>
                <a:latin typeface="Roboto" pitchFamily="34" charset="0"/>
                <a:ea typeface="Roboto" pitchFamily="34" charset="-122"/>
                <a:cs typeface="Roboto" pitchFamily="34" charset="-120"/>
              </a:rPr>
              <a:t> The bagging (bootstrap aggregating) technique makes the model highly robust to noisy market data.</a:t>
            </a:r>
            <a:endParaRPr lang="en-US" sz="1458" dirty="0"/>
          </a:p>
        </p:txBody>
      </p:sp>
      <p:sp>
        <p:nvSpPr>
          <p:cNvPr id="7" name="Text 5"/>
          <p:cNvSpPr/>
          <p:nvPr/>
        </p:nvSpPr>
        <p:spPr>
          <a:xfrm>
            <a:off x="661492" y="4404575"/>
            <a:ext cx="10869018"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Sign Prediction:</a:t>
            </a:r>
            <a:r>
              <a:rPr lang="en-US" sz="1458" dirty="0">
                <a:solidFill>
                  <a:srgbClr val="E5E0DF"/>
                </a:solidFill>
                <a:latin typeface="Roboto" pitchFamily="34" charset="0"/>
                <a:ea typeface="Roboto" pitchFamily="34" charset="-122"/>
                <a:cs typeface="Roboto" pitchFamily="34" charset="-120"/>
              </a:rPr>
              <a:t> Primarily designed to predict the sign of future returns, guiding the strategy towards long or short positions.</a:t>
            </a:r>
            <a:endParaRPr lang="en-US" sz="1458" dirty="0"/>
          </a:p>
        </p:txBody>
      </p:sp>
      <p:sp>
        <p:nvSpPr>
          <p:cNvPr id="8" name="Text 6"/>
          <p:cNvSpPr/>
          <p:nvPr/>
        </p:nvSpPr>
        <p:spPr>
          <a:xfrm>
            <a:off x="661492" y="4874815"/>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Small Sampling Windows:</a:t>
            </a:r>
            <a:r>
              <a:rPr lang="en-US" sz="1458" dirty="0">
                <a:solidFill>
                  <a:srgbClr val="E5E0DF"/>
                </a:solidFill>
                <a:latin typeface="Roboto" pitchFamily="34" charset="0"/>
                <a:ea typeface="Roboto" pitchFamily="34" charset="-122"/>
                <a:cs typeface="Roboto" pitchFamily="34" charset="-120"/>
              </a:rPr>
              <a:t> Performs effectively even with relatively small, dynamic sampling windows, crucial for adaptive trading.</a:t>
            </a:r>
            <a:endParaRPr lang="en-US" sz="1458" dirty="0"/>
          </a:p>
        </p:txBody>
      </p:sp>
      <p:sp>
        <p:nvSpPr>
          <p:cNvPr id="9" name="Text 7"/>
          <p:cNvSpPr/>
          <p:nvPr/>
        </p:nvSpPr>
        <p:spPr>
          <a:xfrm>
            <a:off x="661492" y="5345055"/>
            <a:ext cx="10869018" cy="604838"/>
          </a:xfrm>
          <a:prstGeom prst="rect">
            <a:avLst/>
          </a:prstGeom>
          <a:noFill/>
          <a:ln/>
        </p:spPr>
        <p:txBody>
          <a:bodyPr wrap="square" lIns="0" tIns="0" rIns="0" bIns="0" rtlCol="0" anchor="t"/>
          <a:lstStyle/>
          <a:p>
            <a:pPr marL="285739" indent="-285739">
              <a:lnSpc>
                <a:spcPts val="2375"/>
              </a:lnSpc>
              <a:buSzPct val="100000"/>
              <a:buChar char="•"/>
            </a:pPr>
            <a:r>
              <a:rPr lang="en-US" sz="1458" dirty="0">
                <a:solidFill>
                  <a:srgbClr val="DCFF50"/>
                </a:solidFill>
                <a:latin typeface="Roboto" pitchFamily="34" charset="0"/>
                <a:ea typeface="Roboto" pitchFamily="34" charset="-122"/>
                <a:cs typeface="Roboto" pitchFamily="34" charset="-120"/>
              </a:rPr>
              <a:t>Interpretability:</a:t>
            </a:r>
            <a:r>
              <a:rPr lang="en-US" sz="1458" dirty="0">
                <a:solidFill>
                  <a:srgbClr val="E5E0DF"/>
                </a:solidFill>
                <a:latin typeface="Roboto" pitchFamily="34" charset="0"/>
                <a:ea typeface="Roboto" pitchFamily="34" charset="-122"/>
                <a:cs typeface="Roboto" pitchFamily="34" charset="-120"/>
              </a:rPr>
              <a:t> Provides feature importances, offering insights into which market factors are most influential in its predictions, aiding in model validation and refinement.</a:t>
            </a:r>
            <a:endParaRPr lang="en-US" sz="1458" dirty="0"/>
          </a:p>
        </p:txBody>
      </p:sp>
      <p:pic>
        <p:nvPicPr>
          <p:cNvPr id="10" name="Picture 9"/>
          <p:cNvPicPr>
            <a:picLocks noChangeAspect="1"/>
          </p:cNvPicPr>
          <p:nvPr/>
        </p:nvPicPr>
        <p:blipFill>
          <a:blip r:embed="rId3"/>
          <a:stretch>
            <a:fillRect/>
          </a:stretch>
        </p:blipFill>
        <p:spPr>
          <a:xfrm>
            <a:off x="10139274" y="6399025"/>
            <a:ext cx="1962424" cy="362001"/>
          </a:xfrm>
          <a:prstGeom prst="rect">
            <a:avLst/>
          </a:prstGeom>
        </p:spPr>
      </p:pic>
    </p:spTree>
    <p:extLst>
      <p:ext uri="{BB962C8B-B14F-4D97-AF65-F5344CB8AC3E}">
        <p14:creationId xmlns:p14="http://schemas.microsoft.com/office/powerpoint/2010/main" val="15573190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9125" y="487363"/>
            <a:ext cx="5836940" cy="552748"/>
          </a:xfrm>
          <a:prstGeom prst="rect">
            <a:avLst/>
          </a:prstGeom>
          <a:noFill/>
          <a:ln/>
        </p:spPr>
        <p:txBody>
          <a:bodyPr wrap="none" lIns="0" tIns="0" rIns="0" bIns="0" rtlCol="0" anchor="t"/>
          <a:lstStyle/>
          <a:p>
            <a:pPr>
              <a:lnSpc>
                <a:spcPts val="4333"/>
              </a:lnSpc>
            </a:pPr>
            <a:r>
              <a:rPr lang="en-US" sz="3458" dirty="0">
                <a:solidFill>
                  <a:srgbClr val="FFFFFF"/>
                </a:solidFill>
                <a:latin typeface="Roboto" panose="020B0604020202020204" charset="0"/>
                <a:ea typeface="Roboto" panose="020B0604020202020204" charset="0"/>
                <a:cs typeface="Roboto Mono Medium" pitchFamily="34" charset="-120"/>
              </a:rPr>
              <a:t>Questions &amp; Discussion</a:t>
            </a:r>
            <a:endParaRPr lang="en-US" sz="3458" dirty="0">
              <a:latin typeface="Roboto" panose="020B0604020202020204" charset="0"/>
              <a:ea typeface="Roboto" panose="020B0604020202020204" charset="0"/>
            </a:endParaRPr>
          </a:p>
        </p:txBody>
      </p:sp>
      <p:sp>
        <p:nvSpPr>
          <p:cNvPr id="3" name="Text 1"/>
          <p:cNvSpPr/>
          <p:nvPr/>
        </p:nvSpPr>
        <p:spPr>
          <a:xfrm>
            <a:off x="619125" y="1305421"/>
            <a:ext cx="10953750" cy="2211189"/>
          </a:xfrm>
          <a:prstGeom prst="rect">
            <a:avLst/>
          </a:prstGeom>
          <a:noFill/>
          <a:ln/>
        </p:spPr>
        <p:txBody>
          <a:bodyPr wrap="square" lIns="0" tIns="0" rIns="0" bIns="0" rtlCol="0" anchor="t"/>
          <a:lstStyle/>
          <a:p>
            <a:pPr>
              <a:lnSpc>
                <a:spcPts val="8666"/>
              </a:lnSpc>
            </a:pPr>
            <a:r>
              <a:rPr lang="en-US" sz="6958" dirty="0">
                <a:solidFill>
                  <a:srgbClr val="FFFFFF"/>
                </a:solidFill>
                <a:latin typeface="Roboto" panose="020B0604020202020204" charset="0"/>
                <a:ea typeface="Roboto" panose="020B0604020202020204" charset="0"/>
                <a:cs typeface="Roboto Mono Medium" pitchFamily="34" charset="-120"/>
              </a:rPr>
              <a:t>Thank you for your attention!</a:t>
            </a:r>
            <a:endParaRPr lang="en-US" sz="6958" dirty="0">
              <a:latin typeface="Roboto" panose="020B0604020202020204" charset="0"/>
              <a:ea typeface="Roboto" panose="020B0604020202020204" charset="0"/>
            </a:endParaRPr>
          </a:p>
        </p:txBody>
      </p:sp>
      <p:sp>
        <p:nvSpPr>
          <p:cNvPr id="4" name="Text 2"/>
          <p:cNvSpPr/>
          <p:nvPr/>
        </p:nvSpPr>
        <p:spPr>
          <a:xfrm>
            <a:off x="619125" y="3781921"/>
            <a:ext cx="10953750" cy="282972"/>
          </a:xfrm>
          <a:prstGeom prst="rect">
            <a:avLst/>
          </a:prstGeom>
          <a:noFill/>
          <a:ln/>
        </p:spPr>
        <p:txBody>
          <a:bodyPr wrap="none" lIns="0" tIns="0" rIns="0" bIns="0" rtlCol="0" anchor="t"/>
          <a:lstStyle/>
          <a:p>
            <a:pPr>
              <a:lnSpc>
                <a:spcPts val="2208"/>
              </a:lnSpc>
            </a:pPr>
            <a:r>
              <a:rPr lang="en-US" sz="1375" dirty="0">
                <a:solidFill>
                  <a:srgbClr val="E5E0DF"/>
                </a:solidFill>
                <a:latin typeface="Roboto" pitchFamily="34" charset="0"/>
                <a:ea typeface="Roboto" pitchFamily="34" charset="-122"/>
                <a:cs typeface="Roboto" pitchFamily="34" charset="-120"/>
              </a:rPr>
              <a:t>Now, we open the floor for your questions and insights. We're eager to hear your thoughts.</a:t>
            </a:r>
            <a:endParaRPr lang="en-US" sz="1375" dirty="0"/>
          </a:p>
        </p:txBody>
      </p:sp>
      <p:pic>
        <p:nvPicPr>
          <p:cNvPr id="5" name="Picture 4"/>
          <p:cNvPicPr>
            <a:picLocks noChangeAspect="1"/>
          </p:cNvPicPr>
          <p:nvPr/>
        </p:nvPicPr>
        <p:blipFill>
          <a:blip r:embed="rId3"/>
          <a:stretch>
            <a:fillRect/>
          </a:stretch>
        </p:blipFill>
        <p:spPr>
          <a:xfrm>
            <a:off x="10139274" y="6399025"/>
            <a:ext cx="1962424" cy="362001"/>
          </a:xfrm>
          <a:prstGeom prst="rect">
            <a:avLst/>
          </a:prstGeom>
        </p:spPr>
      </p:pic>
    </p:spTree>
    <p:extLst>
      <p:ext uri="{BB962C8B-B14F-4D97-AF65-F5344CB8AC3E}">
        <p14:creationId xmlns:p14="http://schemas.microsoft.com/office/powerpoint/2010/main" val="39808981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1087</TotalTime>
  <Words>1200</Words>
  <Application>Microsoft Office PowerPoint</Application>
  <PresentationFormat>Widescreen</PresentationFormat>
  <Paragraphs>98</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Roboto</vt:lpstr>
      <vt:lpstr>Roboto Mono Light</vt:lpstr>
      <vt:lpstr>Roboto Mono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12</cp:revision>
  <dcterms:created xsi:type="dcterms:W3CDTF">2025-11-27T12:55:34Z</dcterms:created>
  <dcterms:modified xsi:type="dcterms:W3CDTF">2025-11-28T07:02:54Z</dcterms:modified>
</cp:coreProperties>
</file>